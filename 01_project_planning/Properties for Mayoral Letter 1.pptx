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4"/>
  </p:sldMasterIdLst>
  <p:notesMasterIdLst>
    <p:notesMasterId r:id="rId10"/>
  </p:notesMasterIdLst>
  <p:sldIdLst>
    <p:sldId id="258" r:id="rId5"/>
    <p:sldId id="259" r:id="rId6"/>
    <p:sldId id="263" r:id="rId7"/>
    <p:sldId id="262" r:id="rId8"/>
    <p:sldId id="266" r:id="rId9"/>
  </p:sldIdLst>
  <p:sldSz cx="9144000" cy="5143500" type="screen16x9"/>
  <p:notesSz cx="6858000" cy="9144000"/>
  <p:embeddedFontLst>
    <p:embeddedFont>
      <p:font typeface="Montserrat" panose="02000505000000020004" pitchFamily="2" charset="0"/>
      <p:regular r:id="rId11"/>
      <p:bold r:id="rId12"/>
    </p:embeddedFont>
    <p:embeddedFont>
      <p:font typeface="Open Sans" panose="020B0606030504020204" pitchFamily="34"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000000"/>
          </p15:clr>
        </p15:guide>
        <p15:guide id="2" pos="2880">
          <p15:clr>
            <a:srgbClr val="000000"/>
          </p15:clr>
        </p15:guide>
      </p15:sldGuideLst>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19" roundtripDataSignature="AMtx7mhQiZDgfUCuVTkjBaomA7VAL9XmE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CAFE"/>
    <a:srgbClr val="FFD08B"/>
    <a:srgbClr val="FC9401"/>
    <a:srgbClr val="54BC4D"/>
    <a:srgbClr val="F4C40C"/>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DB9DC5-3B5A-4792-9CAD-11E7651E3A76}" v="2543" dt="2024-08-23T18:01:25.8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font" Target="fonts/font2.fntdata"/><Relationship Id="rId2" Type="http://schemas.openxmlformats.org/officeDocument/2006/relationships/customXml" Target="../customXml/item2.xml"/><Relationship Id="rId16" Type="http://schemas.openxmlformats.org/officeDocument/2006/relationships/font" Target="fonts/font6.fntdata"/><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font" Target="fonts/font1.fntdata"/><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font" Target="fonts/font5.fntdata"/><Relationship Id="rId23" Type="http://schemas.openxmlformats.org/officeDocument/2006/relationships/tableStyles" Target="tableStyles.xml"/><Relationship Id="rId10" Type="http://schemas.openxmlformats.org/officeDocument/2006/relationships/notesMaster" Target="notesMasters/notesMaster1.xml"/><Relationship Id="rId19" Type="http://customschemas.google.com/relationships/presentationmetadata" Target="meta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4.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ocument Outline">
  <p:cSld name="Document Outline">
    <p:spTree>
      <p:nvGrpSpPr>
        <p:cNvPr id="1" name="Shape 12"/>
        <p:cNvGrpSpPr/>
        <p:nvPr/>
      </p:nvGrpSpPr>
      <p:grpSpPr>
        <a:xfrm>
          <a:off x="0" y="0"/>
          <a:ext cx="0" cy="0"/>
          <a:chOff x="0" y="0"/>
          <a:chExt cx="0" cy="0"/>
        </a:xfrm>
      </p:grpSpPr>
      <p:sp>
        <p:nvSpPr>
          <p:cNvPr id="13" name="Google Shape;13;p7"/>
          <p:cNvSpPr txBox="1">
            <a:spLocks noGrp="1"/>
          </p:cNvSpPr>
          <p:nvPr>
            <p:ph type="title"/>
          </p:nvPr>
        </p:nvSpPr>
        <p:spPr>
          <a:xfrm>
            <a:off x="1153475" y="493025"/>
            <a:ext cx="7166700" cy="546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4" name="Google Shape;14;p7"/>
          <p:cNvSpPr txBox="1">
            <a:spLocks noGrp="1"/>
          </p:cNvSpPr>
          <p:nvPr>
            <p:ph type="body" idx="1"/>
          </p:nvPr>
        </p:nvSpPr>
        <p:spPr>
          <a:xfrm>
            <a:off x="1153475" y="1148707"/>
            <a:ext cx="7166700" cy="3212645"/>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0"/>
              </a:spcBef>
              <a:spcAft>
                <a:spcPts val="0"/>
              </a:spcAft>
              <a:buSzPts val="1800"/>
              <a:buNone/>
              <a:defRPr/>
            </a:lvl1pPr>
            <a:lvl2pPr marL="914400" lvl="1" indent="-228600" algn="l">
              <a:lnSpc>
                <a:spcPct val="100000"/>
              </a:lnSpc>
              <a:spcBef>
                <a:spcPts val="1600"/>
              </a:spcBef>
              <a:spcAft>
                <a:spcPts val="0"/>
              </a:spcAft>
              <a:buSzPts val="1400"/>
              <a:buNone/>
              <a:defRPr/>
            </a:lvl2pPr>
            <a:lvl3pPr marL="1371600" lvl="2" indent="-228600" algn="l">
              <a:lnSpc>
                <a:spcPct val="100000"/>
              </a:lnSpc>
              <a:spcBef>
                <a:spcPts val="1600"/>
              </a:spcBef>
              <a:spcAft>
                <a:spcPts val="0"/>
              </a:spcAft>
              <a:buSzPts val="1400"/>
              <a:buNone/>
              <a:defRPr/>
            </a:lvl3pPr>
            <a:lvl4pPr marL="1828800" lvl="3" indent="-228600" algn="l">
              <a:lnSpc>
                <a:spcPct val="100000"/>
              </a:lnSpc>
              <a:spcBef>
                <a:spcPts val="1600"/>
              </a:spcBef>
              <a:spcAft>
                <a:spcPts val="0"/>
              </a:spcAft>
              <a:buSzPts val="1400"/>
              <a:buNone/>
              <a:defRPr/>
            </a:lvl4pPr>
            <a:lvl5pPr marL="2286000" lvl="4" indent="-228600" algn="l">
              <a:lnSpc>
                <a:spcPct val="100000"/>
              </a:lnSpc>
              <a:spcBef>
                <a:spcPts val="1600"/>
              </a:spcBef>
              <a:spcAft>
                <a:spcPts val="0"/>
              </a:spcAft>
              <a:buSzPts val="1400"/>
              <a:buNone/>
              <a:defRPr/>
            </a:lvl5pPr>
            <a:lvl6pPr marL="2743200" lvl="5" indent="-228600" algn="l">
              <a:lnSpc>
                <a:spcPct val="100000"/>
              </a:lnSpc>
              <a:spcBef>
                <a:spcPts val="1600"/>
              </a:spcBef>
              <a:spcAft>
                <a:spcPts val="0"/>
              </a:spcAft>
              <a:buSzPts val="1400"/>
              <a:buNone/>
              <a:defRPr/>
            </a:lvl6pPr>
            <a:lvl7pPr marL="3200400" lvl="6" indent="-228600" algn="l">
              <a:lnSpc>
                <a:spcPct val="100000"/>
              </a:lnSpc>
              <a:spcBef>
                <a:spcPts val="1600"/>
              </a:spcBef>
              <a:spcAft>
                <a:spcPts val="0"/>
              </a:spcAft>
              <a:buSzPts val="1400"/>
              <a:buNone/>
              <a:defRPr/>
            </a:lvl7pPr>
            <a:lvl8pPr marL="3657600" lvl="7" indent="-228600" algn="l">
              <a:lnSpc>
                <a:spcPct val="100000"/>
              </a:lnSpc>
              <a:spcBef>
                <a:spcPts val="1600"/>
              </a:spcBef>
              <a:spcAft>
                <a:spcPts val="0"/>
              </a:spcAft>
              <a:buSzPts val="1400"/>
              <a:buNone/>
              <a:defRPr/>
            </a:lvl8pPr>
            <a:lvl9pPr marL="4114800" lvl="8" indent="-228600" algn="l">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ransition/in-between slide" type="tx">
  <p:cSld name="TITLE_AND_BODY">
    <p:spTree>
      <p:nvGrpSpPr>
        <p:cNvPr id="1" name="Shape 15"/>
        <p:cNvGrpSpPr/>
        <p:nvPr/>
      </p:nvGrpSpPr>
      <p:grpSpPr>
        <a:xfrm>
          <a:off x="0" y="0"/>
          <a:ext cx="0" cy="0"/>
          <a:chOff x="0" y="0"/>
          <a:chExt cx="0" cy="0"/>
        </a:xfrm>
      </p:grpSpPr>
      <p:sp>
        <p:nvSpPr>
          <p:cNvPr id="16" name="Google Shape;16;p8"/>
          <p:cNvSpPr txBox="1">
            <a:spLocks noGrp="1"/>
          </p:cNvSpPr>
          <p:nvPr>
            <p:ph type="sldNum" idx="12"/>
          </p:nvPr>
        </p:nvSpPr>
        <p:spPr>
          <a:xfrm>
            <a:off x="8472457" y="4663216"/>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pic>
        <p:nvPicPr>
          <p:cNvPr id="17" name="Google Shape;17;p8" descr="inbetween.jpg"/>
          <p:cNvPicPr preferRelativeResize="0"/>
          <p:nvPr/>
        </p:nvPicPr>
        <p:blipFill rotWithShape="1">
          <a:blip r:embed="rId2">
            <a:alphaModFix/>
          </a:blip>
          <a:srcRect/>
          <a:stretch/>
        </p:blipFill>
        <p:spPr>
          <a:xfrm>
            <a:off x="0" y="535"/>
            <a:ext cx="9144000" cy="5142429"/>
          </a:xfrm>
          <a:prstGeom prst="rect">
            <a:avLst/>
          </a:prstGeom>
          <a:noFill/>
          <a:ln>
            <a:noFill/>
          </a:ln>
        </p:spPr>
      </p:pic>
      <p:sp>
        <p:nvSpPr>
          <p:cNvPr id="18" name="Google Shape;18;p8"/>
          <p:cNvSpPr txBox="1">
            <a:spLocks noGrp="1"/>
          </p:cNvSpPr>
          <p:nvPr>
            <p:ph type="title"/>
          </p:nvPr>
        </p:nvSpPr>
        <p:spPr>
          <a:xfrm>
            <a:off x="150" y="1928400"/>
            <a:ext cx="9144000" cy="1005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6000"/>
              <a:buNone/>
              <a:defRPr sz="6000">
                <a:solidFill>
                  <a:srgbClr val="FFFF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xt ">
  <p:cSld name="Text ">
    <p:spTree>
      <p:nvGrpSpPr>
        <p:cNvPr id="1" name="Shape 19"/>
        <p:cNvGrpSpPr/>
        <p:nvPr/>
      </p:nvGrpSpPr>
      <p:grpSpPr>
        <a:xfrm>
          <a:off x="0" y="0"/>
          <a:ext cx="0" cy="0"/>
          <a:chOff x="0" y="0"/>
          <a:chExt cx="0" cy="0"/>
        </a:xfrm>
      </p:grpSpPr>
      <p:pic>
        <p:nvPicPr>
          <p:cNvPr id="20" name="Google Shape;20;p9" descr="blankpage.jpg"/>
          <p:cNvPicPr preferRelativeResize="0"/>
          <p:nvPr/>
        </p:nvPicPr>
        <p:blipFill rotWithShape="1">
          <a:blip r:embed="rId2">
            <a:alphaModFix/>
          </a:blip>
          <a:srcRect/>
          <a:stretch/>
        </p:blipFill>
        <p:spPr>
          <a:xfrm>
            <a:off x="0" y="535"/>
            <a:ext cx="9144000" cy="5142429"/>
          </a:xfrm>
          <a:prstGeom prst="rect">
            <a:avLst/>
          </a:prstGeom>
          <a:noFill/>
          <a:ln>
            <a:noFill/>
          </a:ln>
        </p:spPr>
      </p:pic>
      <p:sp>
        <p:nvSpPr>
          <p:cNvPr id="21" name="Google Shape;21;p9"/>
          <p:cNvSpPr txBox="1">
            <a:spLocks noGrp="1"/>
          </p:cNvSpPr>
          <p:nvPr>
            <p:ph type="title"/>
          </p:nvPr>
        </p:nvSpPr>
        <p:spPr>
          <a:xfrm>
            <a:off x="1153475" y="493025"/>
            <a:ext cx="7166700" cy="546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9"/>
          <p:cNvSpPr txBox="1">
            <a:spLocks noGrp="1"/>
          </p:cNvSpPr>
          <p:nvPr>
            <p:ph type="body" idx="1"/>
          </p:nvPr>
        </p:nvSpPr>
        <p:spPr>
          <a:xfrm>
            <a:off x="1153475" y="1148707"/>
            <a:ext cx="7166700" cy="3212645"/>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0"/>
              </a:spcBef>
              <a:spcAft>
                <a:spcPts val="0"/>
              </a:spcAft>
              <a:buSzPts val="1800"/>
              <a:buNone/>
              <a:defRPr/>
            </a:lvl1pPr>
            <a:lvl2pPr marL="914400" lvl="1" indent="-228600" algn="l">
              <a:lnSpc>
                <a:spcPct val="100000"/>
              </a:lnSpc>
              <a:spcBef>
                <a:spcPts val="1600"/>
              </a:spcBef>
              <a:spcAft>
                <a:spcPts val="0"/>
              </a:spcAft>
              <a:buSzPts val="1400"/>
              <a:buNone/>
              <a:defRPr/>
            </a:lvl2pPr>
            <a:lvl3pPr marL="1371600" lvl="2" indent="-228600" algn="l">
              <a:lnSpc>
                <a:spcPct val="100000"/>
              </a:lnSpc>
              <a:spcBef>
                <a:spcPts val="1600"/>
              </a:spcBef>
              <a:spcAft>
                <a:spcPts val="0"/>
              </a:spcAft>
              <a:buSzPts val="1400"/>
              <a:buNone/>
              <a:defRPr/>
            </a:lvl3pPr>
            <a:lvl4pPr marL="1828800" lvl="3" indent="-228600" algn="l">
              <a:lnSpc>
                <a:spcPct val="100000"/>
              </a:lnSpc>
              <a:spcBef>
                <a:spcPts val="1600"/>
              </a:spcBef>
              <a:spcAft>
                <a:spcPts val="0"/>
              </a:spcAft>
              <a:buSzPts val="1400"/>
              <a:buNone/>
              <a:defRPr/>
            </a:lvl4pPr>
            <a:lvl5pPr marL="2286000" lvl="4" indent="-228600" algn="l">
              <a:lnSpc>
                <a:spcPct val="100000"/>
              </a:lnSpc>
              <a:spcBef>
                <a:spcPts val="1600"/>
              </a:spcBef>
              <a:spcAft>
                <a:spcPts val="0"/>
              </a:spcAft>
              <a:buSzPts val="1400"/>
              <a:buNone/>
              <a:defRPr/>
            </a:lvl5pPr>
            <a:lvl6pPr marL="2743200" lvl="5" indent="-228600" algn="l">
              <a:lnSpc>
                <a:spcPct val="100000"/>
              </a:lnSpc>
              <a:spcBef>
                <a:spcPts val="1600"/>
              </a:spcBef>
              <a:spcAft>
                <a:spcPts val="0"/>
              </a:spcAft>
              <a:buSzPts val="1400"/>
              <a:buNone/>
              <a:defRPr/>
            </a:lvl6pPr>
            <a:lvl7pPr marL="3200400" lvl="6" indent="-228600" algn="l">
              <a:lnSpc>
                <a:spcPct val="100000"/>
              </a:lnSpc>
              <a:spcBef>
                <a:spcPts val="1600"/>
              </a:spcBef>
              <a:spcAft>
                <a:spcPts val="0"/>
              </a:spcAft>
              <a:buSzPts val="1400"/>
              <a:buNone/>
              <a:defRPr/>
            </a:lvl7pPr>
            <a:lvl8pPr marL="3657600" lvl="7" indent="-228600" algn="l">
              <a:lnSpc>
                <a:spcPct val="100000"/>
              </a:lnSpc>
              <a:spcBef>
                <a:spcPts val="1600"/>
              </a:spcBef>
              <a:spcAft>
                <a:spcPts val="0"/>
              </a:spcAft>
              <a:buSzPts val="1400"/>
              <a:buNone/>
              <a:defRPr/>
            </a:lvl8pPr>
            <a:lvl9pPr marL="4114800" lvl="8" indent="-228600" algn="l">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Image" type="twoColTx">
  <p:cSld name="TITLE_AND_TWO_COLUMNS">
    <p:spTree>
      <p:nvGrpSpPr>
        <p:cNvPr id="1" name="Shape 23"/>
        <p:cNvGrpSpPr/>
        <p:nvPr/>
      </p:nvGrpSpPr>
      <p:grpSpPr>
        <a:xfrm>
          <a:off x="0" y="0"/>
          <a:ext cx="0" cy="0"/>
          <a:chOff x="0" y="0"/>
          <a:chExt cx="0" cy="0"/>
        </a:xfrm>
      </p:grpSpPr>
      <p:pic>
        <p:nvPicPr>
          <p:cNvPr id="24" name="Google Shape;24;p10" descr="blankpage.jpg"/>
          <p:cNvPicPr preferRelativeResize="0"/>
          <p:nvPr/>
        </p:nvPicPr>
        <p:blipFill rotWithShape="1">
          <a:blip r:embed="rId2">
            <a:alphaModFix/>
          </a:blip>
          <a:srcRect/>
          <a:stretch/>
        </p:blipFill>
        <p:spPr>
          <a:xfrm>
            <a:off x="0" y="535"/>
            <a:ext cx="9144000" cy="514242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5" descr="blankpage.jpg"/>
          <p:cNvPicPr preferRelativeResize="0"/>
          <p:nvPr/>
        </p:nvPicPr>
        <p:blipFill rotWithShape="1">
          <a:blip r:embed="rId6">
            <a:alphaModFix/>
          </a:blip>
          <a:srcRect/>
          <a:stretch/>
        </p:blipFill>
        <p:spPr>
          <a:xfrm>
            <a:off x="0" y="535"/>
            <a:ext cx="9144000" cy="5142429"/>
          </a:xfrm>
          <a:prstGeom prst="rect">
            <a:avLst/>
          </a:prstGeom>
          <a:noFill/>
          <a:ln>
            <a:noFill/>
          </a:ln>
        </p:spPr>
      </p:pic>
      <p:sp>
        <p:nvSpPr>
          <p:cNvPr id="7" name="Google Shape;7;p5"/>
          <p:cNvSpPr txBox="1">
            <a:spLocks noGrp="1"/>
          </p:cNvSpPr>
          <p:nvPr>
            <p:ph type="title"/>
          </p:nvPr>
        </p:nvSpPr>
        <p:spPr>
          <a:xfrm>
            <a:off x="1168550" y="368825"/>
            <a:ext cx="7388433"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44444"/>
              </a:buClr>
              <a:buSzPts val="2400"/>
              <a:buFont typeface="Montserrat"/>
              <a:buNone/>
              <a:defRPr sz="2400" b="0" i="0" u="none" strike="noStrike" cap="none">
                <a:solidFill>
                  <a:srgbClr val="444444"/>
                </a:solidFill>
                <a:latin typeface="Montserrat"/>
                <a:ea typeface="Montserrat"/>
                <a:cs typeface="Montserrat"/>
                <a:sym typeface="Montserrat"/>
              </a:defRPr>
            </a:lvl1pPr>
            <a:lvl2pPr lvl="1" rtl="0">
              <a:spcBef>
                <a:spcPts val="0"/>
              </a:spcBef>
              <a:spcAft>
                <a:spcPts val="0"/>
              </a:spcAft>
              <a:buClr>
                <a:schemeClr val="dk1"/>
              </a:buClr>
              <a:buSzPts val="2800"/>
              <a:buFont typeface="Arial"/>
              <a:buNone/>
              <a:defRPr sz="2800">
                <a:solidFill>
                  <a:schemeClr val="dk1"/>
                </a:solidFill>
              </a:defRPr>
            </a:lvl2pPr>
            <a:lvl3pPr lvl="2" rtl="0">
              <a:spcBef>
                <a:spcPts val="0"/>
              </a:spcBef>
              <a:spcAft>
                <a:spcPts val="0"/>
              </a:spcAft>
              <a:buClr>
                <a:schemeClr val="dk1"/>
              </a:buClr>
              <a:buSzPts val="2800"/>
              <a:buFont typeface="Arial"/>
              <a:buNone/>
              <a:defRPr sz="2800">
                <a:solidFill>
                  <a:schemeClr val="dk1"/>
                </a:solidFill>
              </a:defRPr>
            </a:lvl3pPr>
            <a:lvl4pPr lvl="3" rtl="0">
              <a:spcBef>
                <a:spcPts val="0"/>
              </a:spcBef>
              <a:spcAft>
                <a:spcPts val="0"/>
              </a:spcAft>
              <a:buClr>
                <a:schemeClr val="dk1"/>
              </a:buClr>
              <a:buSzPts val="2800"/>
              <a:buFont typeface="Arial"/>
              <a:buNone/>
              <a:defRPr sz="2800">
                <a:solidFill>
                  <a:schemeClr val="dk1"/>
                </a:solidFill>
              </a:defRPr>
            </a:lvl4pPr>
            <a:lvl5pPr lvl="4" rtl="0">
              <a:spcBef>
                <a:spcPts val="0"/>
              </a:spcBef>
              <a:spcAft>
                <a:spcPts val="0"/>
              </a:spcAft>
              <a:buClr>
                <a:schemeClr val="dk1"/>
              </a:buClr>
              <a:buSzPts val="2800"/>
              <a:buFont typeface="Arial"/>
              <a:buNone/>
              <a:defRPr sz="2800">
                <a:solidFill>
                  <a:schemeClr val="dk1"/>
                </a:solidFill>
              </a:defRPr>
            </a:lvl5pPr>
            <a:lvl6pPr lvl="5" rtl="0">
              <a:spcBef>
                <a:spcPts val="0"/>
              </a:spcBef>
              <a:spcAft>
                <a:spcPts val="0"/>
              </a:spcAft>
              <a:buClr>
                <a:schemeClr val="dk1"/>
              </a:buClr>
              <a:buSzPts val="2800"/>
              <a:buFont typeface="Arial"/>
              <a:buNone/>
              <a:defRPr sz="2800">
                <a:solidFill>
                  <a:schemeClr val="dk1"/>
                </a:solidFill>
              </a:defRPr>
            </a:lvl6pPr>
            <a:lvl7pPr lvl="6" rtl="0">
              <a:spcBef>
                <a:spcPts val="0"/>
              </a:spcBef>
              <a:spcAft>
                <a:spcPts val="0"/>
              </a:spcAft>
              <a:buClr>
                <a:schemeClr val="dk1"/>
              </a:buClr>
              <a:buSzPts val="2800"/>
              <a:buFont typeface="Arial"/>
              <a:buNone/>
              <a:defRPr sz="2800">
                <a:solidFill>
                  <a:schemeClr val="dk1"/>
                </a:solidFill>
              </a:defRPr>
            </a:lvl7pPr>
            <a:lvl8pPr lvl="7" rtl="0">
              <a:spcBef>
                <a:spcPts val="0"/>
              </a:spcBef>
              <a:spcAft>
                <a:spcPts val="0"/>
              </a:spcAft>
              <a:buClr>
                <a:schemeClr val="dk1"/>
              </a:buClr>
              <a:buSzPts val="2800"/>
              <a:buFont typeface="Arial"/>
              <a:buNone/>
              <a:defRPr sz="2800">
                <a:solidFill>
                  <a:schemeClr val="dk1"/>
                </a:solidFill>
              </a:defRPr>
            </a:lvl8pPr>
            <a:lvl9pPr lvl="8" rtl="0">
              <a:spcBef>
                <a:spcPts val="0"/>
              </a:spcBef>
              <a:spcAft>
                <a:spcPts val="0"/>
              </a:spcAft>
              <a:buClr>
                <a:schemeClr val="dk1"/>
              </a:buClr>
              <a:buSzPts val="2800"/>
              <a:buFont typeface="Arial"/>
              <a:buNone/>
              <a:defRPr sz="2800">
                <a:solidFill>
                  <a:schemeClr val="dk1"/>
                </a:solidFill>
              </a:defRPr>
            </a:lvl9pPr>
          </a:lstStyle>
          <a:p>
            <a:endParaRPr/>
          </a:p>
        </p:txBody>
      </p:sp>
      <p:sp>
        <p:nvSpPr>
          <p:cNvPr id="8" name="Google Shape;8;p5"/>
          <p:cNvSpPr txBox="1">
            <a:spLocks noGrp="1"/>
          </p:cNvSpPr>
          <p:nvPr>
            <p:ph type="body" idx="1"/>
          </p:nvPr>
        </p:nvSpPr>
        <p:spPr>
          <a:xfrm>
            <a:off x="1166483" y="1017959"/>
            <a:ext cx="7390500" cy="3339965"/>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15000"/>
              </a:lnSpc>
              <a:spcBef>
                <a:spcPts val="0"/>
              </a:spcBef>
              <a:spcAft>
                <a:spcPts val="0"/>
              </a:spcAft>
              <a:buClr>
                <a:schemeClr val="dk2"/>
              </a:buClr>
              <a:buSzPts val="1800"/>
              <a:buFont typeface="Open Sans"/>
              <a:buNone/>
              <a:defRPr sz="1800" b="0" i="0" u="none" strike="noStrike" cap="none">
                <a:solidFill>
                  <a:schemeClr val="dk2"/>
                </a:solidFill>
                <a:latin typeface="Open Sans"/>
                <a:ea typeface="Open Sans"/>
                <a:cs typeface="Open Sans"/>
                <a:sym typeface="Open Sans"/>
              </a:defRPr>
            </a:lvl1pPr>
            <a:lvl2pPr marL="914400" marR="0" lvl="1" indent="-228600" algn="l"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2pPr>
            <a:lvl3pPr marL="1371600" marR="0" lvl="2" indent="-228600" algn="l"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3pPr>
            <a:lvl4pPr marL="1828800" marR="0" lvl="3" indent="-228600" algn="l"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4pPr>
            <a:lvl5pPr marL="2286000" marR="0" lvl="4" indent="-228600" algn="l"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5pPr>
            <a:lvl6pPr marL="2743200" marR="0" lvl="5" indent="-228600" algn="l"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6pPr>
            <a:lvl7pPr marL="3200400" marR="0" lvl="6" indent="-228600" algn="l"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7pPr>
            <a:lvl8pPr marL="3657600" marR="0" lvl="7" indent="-228600" algn="l"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8pPr>
            <a:lvl9pPr marL="4114800" marR="0" lvl="8" indent="-228600" algn="l" rtl="0">
              <a:lnSpc>
                <a:spcPct val="115000"/>
              </a:lnSpc>
              <a:spcBef>
                <a:spcPts val="1600"/>
              </a:spcBef>
              <a:spcAft>
                <a:spcPts val="160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30A0C-30E2-3B42-F897-ED7B3A195C31}"/>
              </a:ext>
            </a:extLst>
          </p:cNvPr>
          <p:cNvSpPr>
            <a:spLocks noGrp="1"/>
          </p:cNvSpPr>
          <p:nvPr>
            <p:ph type="title"/>
          </p:nvPr>
        </p:nvSpPr>
        <p:spPr/>
        <p:txBody>
          <a:bodyPr/>
          <a:lstStyle/>
          <a:p>
            <a:r>
              <a:rPr lang="en-US"/>
              <a:t>Data Sources</a:t>
            </a:r>
          </a:p>
        </p:txBody>
      </p:sp>
      <p:sp>
        <p:nvSpPr>
          <p:cNvPr id="3" name="Text Placeholder 2">
            <a:extLst>
              <a:ext uri="{FF2B5EF4-FFF2-40B4-BE49-F238E27FC236}">
                <a16:creationId xmlns:a16="http://schemas.microsoft.com/office/drawing/2014/main" id="{195E75CE-F2FA-9751-C4FC-DADAA1969CD8}"/>
              </a:ext>
            </a:extLst>
          </p:cNvPr>
          <p:cNvSpPr>
            <a:spLocks noGrp="1"/>
          </p:cNvSpPr>
          <p:nvPr>
            <p:ph type="body" idx="1"/>
          </p:nvPr>
        </p:nvSpPr>
        <p:spPr/>
        <p:txBody>
          <a:bodyPr/>
          <a:lstStyle/>
          <a:p>
            <a:pPr marL="514350" indent="-285750">
              <a:buFont typeface="Arial" panose="020B0604020202020204" pitchFamily="34" charset="0"/>
              <a:buChar char="•"/>
            </a:pPr>
            <a:r>
              <a:rPr lang="en-US"/>
              <a:t>2025 Real Estate Assessment Data</a:t>
            </a:r>
          </a:p>
          <a:p>
            <a:pPr marL="971550" lvl="1" indent="-285750">
              <a:buFont typeface="Arial" panose="020B0604020202020204" pitchFamily="34" charset="0"/>
              <a:buChar char="•"/>
            </a:pPr>
            <a:r>
              <a:rPr lang="en-US"/>
              <a:t>Only residential properties are included</a:t>
            </a:r>
          </a:p>
          <a:p>
            <a:pPr marL="228600" indent="0"/>
            <a:endParaRPr lang="en-US"/>
          </a:p>
          <a:p>
            <a:pPr marL="514350" indent="-285750">
              <a:buFont typeface="Arial" panose="020B0604020202020204" pitchFamily="34" charset="0"/>
              <a:buChar char="•"/>
            </a:pPr>
            <a:r>
              <a:rPr lang="en-US"/>
              <a:t>Assistance Program Enrollment</a:t>
            </a:r>
          </a:p>
          <a:p>
            <a:pPr marL="514350" indent="-285750">
              <a:buFont typeface="Arial" panose="020B0604020202020204" pitchFamily="34" charset="0"/>
              <a:buChar char="•"/>
            </a:pPr>
            <a:endParaRPr lang="en-US"/>
          </a:p>
          <a:p>
            <a:pPr marL="514350" indent="-285750">
              <a:buFont typeface="Arial" panose="020B0604020202020204" pitchFamily="34" charset="0"/>
              <a:buChar char="•"/>
            </a:pPr>
            <a:r>
              <a:rPr lang="en-US"/>
              <a:t>Property Owner Data</a:t>
            </a:r>
          </a:p>
          <a:p>
            <a:pPr marL="514350" indent="-285750">
              <a:buFont typeface="Arial" panose="020B0604020202020204" pitchFamily="34" charset="0"/>
              <a:buChar char="•"/>
            </a:pPr>
            <a:endParaRPr lang="en-US"/>
          </a:p>
          <a:p>
            <a:pPr marL="514350" indent="-285750">
              <a:buFont typeface="Arial" panose="020B0604020202020204" pitchFamily="34" charset="0"/>
              <a:buChar char="•"/>
            </a:pPr>
            <a:r>
              <a:rPr lang="en-US"/>
              <a:t>Rental Licenses</a:t>
            </a:r>
          </a:p>
        </p:txBody>
      </p:sp>
    </p:spTree>
    <p:extLst>
      <p:ext uri="{BB962C8B-B14F-4D97-AF65-F5344CB8AC3E}">
        <p14:creationId xmlns:p14="http://schemas.microsoft.com/office/powerpoint/2010/main" val="4278837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604BE-6524-A8A2-FE6A-D78B3A96F869}"/>
              </a:ext>
            </a:extLst>
          </p:cNvPr>
          <p:cNvSpPr>
            <a:spLocks noGrp="1"/>
          </p:cNvSpPr>
          <p:nvPr>
            <p:ph type="title"/>
          </p:nvPr>
        </p:nvSpPr>
        <p:spPr/>
        <p:txBody>
          <a:bodyPr/>
          <a:lstStyle/>
          <a:p>
            <a:r>
              <a:rPr lang="en-US"/>
              <a:t>Estimating Owner-Occupied Properties</a:t>
            </a:r>
          </a:p>
        </p:txBody>
      </p:sp>
      <p:sp>
        <p:nvSpPr>
          <p:cNvPr id="3" name="Text Placeholder 2">
            <a:extLst>
              <a:ext uri="{FF2B5EF4-FFF2-40B4-BE49-F238E27FC236}">
                <a16:creationId xmlns:a16="http://schemas.microsoft.com/office/drawing/2014/main" id="{462CC932-B0D8-CC5A-21B3-D750BBBE0F25}"/>
              </a:ext>
            </a:extLst>
          </p:cNvPr>
          <p:cNvSpPr>
            <a:spLocks noGrp="1"/>
          </p:cNvSpPr>
          <p:nvPr>
            <p:ph type="body" idx="1"/>
          </p:nvPr>
        </p:nvSpPr>
        <p:spPr>
          <a:xfrm>
            <a:off x="1153475" y="1148707"/>
            <a:ext cx="6737457" cy="3212645"/>
          </a:xfrm>
        </p:spPr>
        <p:txBody>
          <a:bodyPr/>
          <a:lstStyle/>
          <a:p>
            <a:pPr marL="514350" indent="-285750">
              <a:buFont typeface="Arial" panose="020B0604020202020204" pitchFamily="34" charset="0"/>
              <a:buChar char="•"/>
            </a:pPr>
            <a:r>
              <a:rPr lang="en-US" sz="1600"/>
              <a:t>The U.S. Census Bureau estimates there are between 344,000 to 353,000 owner-occupied households in Philadelphia.</a:t>
            </a:r>
          </a:p>
          <a:p>
            <a:pPr marL="971550" lvl="1" indent="-285750">
              <a:buFont typeface="Arial" panose="020B0604020202020204" pitchFamily="34" charset="0"/>
              <a:buChar char="•"/>
            </a:pPr>
            <a:r>
              <a:rPr lang="en-US" sz="1200"/>
              <a:t>The estimate changes based on whether 1-Year or 5-Year American Community Survey data is used. The 1-Year estimates have a larger margin of error but reflect more recent data and the 5-Year estimates have a lower margin of error but are not as current.</a:t>
            </a:r>
          </a:p>
          <a:p>
            <a:pPr marL="514350" indent="-285750">
              <a:buFont typeface="Arial" panose="020B0604020202020204" pitchFamily="34" charset="0"/>
              <a:buChar char="•"/>
            </a:pPr>
            <a:endParaRPr lang="en-US" sz="1600"/>
          </a:p>
          <a:p>
            <a:pPr marL="514350" indent="-285750">
              <a:buFont typeface="Arial" panose="020B0604020202020204" pitchFamily="34" charset="0"/>
              <a:buChar char="•"/>
            </a:pPr>
            <a:r>
              <a:rPr lang="en-US" sz="1600"/>
              <a:t>Available administrative data does not clearly identify homes that are owner-occupied. Combining different data sets, we can identify which properties are more likely to be owner-occupied.</a:t>
            </a:r>
          </a:p>
          <a:p>
            <a:pPr marL="514350" indent="-285750">
              <a:buFont typeface="Arial" panose="020B0604020202020204" pitchFamily="34" charset="0"/>
              <a:buChar char="•"/>
            </a:pPr>
            <a:endParaRPr lang="en-US" sz="1600"/>
          </a:p>
          <a:p>
            <a:pPr marL="514350" indent="-285750">
              <a:buFont typeface="Arial" panose="020B0604020202020204" pitchFamily="34" charset="0"/>
              <a:buChar char="•"/>
            </a:pPr>
            <a:endParaRPr lang="en-US" sz="1100"/>
          </a:p>
        </p:txBody>
      </p:sp>
    </p:spTree>
    <p:extLst>
      <p:ext uri="{BB962C8B-B14F-4D97-AF65-F5344CB8AC3E}">
        <p14:creationId xmlns:p14="http://schemas.microsoft.com/office/powerpoint/2010/main" val="3997601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03513-CF46-B0A6-5EFD-ACABAA8A52FE}"/>
              </a:ext>
            </a:extLst>
          </p:cNvPr>
          <p:cNvSpPr>
            <a:spLocks noGrp="1"/>
          </p:cNvSpPr>
          <p:nvPr>
            <p:ph type="title"/>
          </p:nvPr>
        </p:nvSpPr>
        <p:spPr>
          <a:xfrm>
            <a:off x="1153474" y="493025"/>
            <a:ext cx="7523165" cy="546300"/>
          </a:xfrm>
        </p:spPr>
        <p:txBody>
          <a:bodyPr/>
          <a:lstStyle/>
          <a:p>
            <a:r>
              <a:rPr lang="en-US"/>
              <a:t>Criteria to Identify Owner-Occupied Properties</a:t>
            </a:r>
          </a:p>
        </p:txBody>
      </p:sp>
      <p:graphicFrame>
        <p:nvGraphicFramePr>
          <p:cNvPr id="4" name="Table 3">
            <a:extLst>
              <a:ext uri="{FF2B5EF4-FFF2-40B4-BE49-F238E27FC236}">
                <a16:creationId xmlns:a16="http://schemas.microsoft.com/office/drawing/2014/main" id="{5486F9A3-B37C-EC56-F5DF-3BC8B09CF42E}"/>
              </a:ext>
            </a:extLst>
          </p:cNvPr>
          <p:cNvGraphicFramePr>
            <a:graphicFrameLocks noGrp="1"/>
          </p:cNvGraphicFramePr>
          <p:nvPr>
            <p:extLst>
              <p:ext uri="{D42A27DB-BD31-4B8C-83A1-F6EECF244321}">
                <p14:modId xmlns:p14="http://schemas.microsoft.com/office/powerpoint/2010/main" val="3321823867"/>
              </p:ext>
            </p:extLst>
          </p:nvPr>
        </p:nvGraphicFramePr>
        <p:xfrm>
          <a:off x="1243910" y="1039325"/>
          <a:ext cx="5034971" cy="3302382"/>
        </p:xfrm>
        <a:graphic>
          <a:graphicData uri="http://schemas.openxmlformats.org/drawingml/2006/table">
            <a:tbl>
              <a:tblPr firstRow="1" bandRow="1">
                <a:tableStyleId>{21E4AEA4-8DFA-4A89-87EB-49C32662AFE0}</a:tableStyleId>
              </a:tblPr>
              <a:tblGrid>
                <a:gridCol w="1269175">
                  <a:extLst>
                    <a:ext uri="{9D8B030D-6E8A-4147-A177-3AD203B41FA5}">
                      <a16:colId xmlns:a16="http://schemas.microsoft.com/office/drawing/2014/main" val="1077810971"/>
                    </a:ext>
                  </a:extLst>
                </a:gridCol>
                <a:gridCol w="3765796">
                  <a:extLst>
                    <a:ext uri="{9D8B030D-6E8A-4147-A177-3AD203B41FA5}">
                      <a16:colId xmlns:a16="http://schemas.microsoft.com/office/drawing/2014/main" val="20872555"/>
                    </a:ext>
                  </a:extLst>
                </a:gridCol>
              </a:tblGrid>
              <a:tr h="213529">
                <a:tc>
                  <a:txBody>
                    <a:bodyPr/>
                    <a:lstStyle/>
                    <a:p>
                      <a:pPr algn="ctr"/>
                      <a:r>
                        <a:rPr lang="en-US" sz="700">
                          <a:solidFill>
                            <a:schemeClr val="bg1"/>
                          </a:solidFill>
                        </a:rPr>
                        <a:t>Criteria</a:t>
                      </a:r>
                    </a:p>
                  </a:txBody>
                  <a:tcPr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700">
                          <a:solidFill>
                            <a:schemeClr val="bg1"/>
                          </a:solidFill>
                        </a:rPr>
                        <a:t>Properties</a:t>
                      </a:r>
                    </a:p>
                  </a:txBody>
                  <a:tcPr anchor="ctr">
                    <a:lnL w="31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333782734"/>
                  </a:ext>
                </a:extLst>
              </a:tr>
              <a:tr h="320713">
                <a:tc>
                  <a:txBody>
                    <a:bodyPr/>
                    <a:lstStyle/>
                    <a:p>
                      <a:pPr algn="l"/>
                      <a:r>
                        <a:rPr lang="en-US" sz="700" b="1">
                          <a:solidFill>
                            <a:srgbClr val="002060"/>
                          </a:solidFill>
                        </a:rPr>
                        <a:t>Residential property</a:t>
                      </a:r>
                    </a:p>
                  </a:txBody>
                  <a:tcPr marL="182880"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1" algn="l"/>
                      <a:r>
                        <a:rPr lang="en-US" sz="700" b="0">
                          <a:solidFill>
                            <a:schemeClr val="bg2"/>
                          </a:solidFill>
                        </a:rPr>
                        <a:t>Residential properties are identified based on their OPA Class and Land Use Codes.</a:t>
                      </a:r>
                    </a:p>
                  </a:txBody>
                  <a:tcPr marL="274320" anchor="ctr">
                    <a:lnL w="31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4336556"/>
                  </a:ext>
                </a:extLst>
              </a:tr>
              <a:tr h="335250">
                <a:tc>
                  <a:txBody>
                    <a:bodyPr/>
                    <a:lstStyle/>
                    <a:p>
                      <a:pPr algn="l"/>
                      <a:r>
                        <a:rPr lang="en-US" sz="700" b="1" u="none">
                          <a:solidFill>
                            <a:srgbClr val="002060"/>
                          </a:solidFill>
                        </a:rPr>
                        <a:t>Ceased Account</a:t>
                      </a:r>
                    </a:p>
                  </a:txBody>
                  <a:tcPr marL="182880"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700" b="0">
                          <a:solidFill>
                            <a:schemeClr val="bg2"/>
                          </a:solidFill>
                        </a:rPr>
                        <a:t>Properties with a ceased account date. Ceased accounts are associated with subdivisions, consolidations, and condemnations.</a:t>
                      </a:r>
                    </a:p>
                  </a:txBody>
                  <a:tcPr marL="274320" anchor="ctr">
                    <a:lnL w="31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9074575"/>
                  </a:ext>
                </a:extLst>
              </a:tr>
              <a:tr h="763747">
                <a:tc>
                  <a:txBody>
                    <a:bodyPr/>
                    <a:lstStyle/>
                    <a:p>
                      <a:pPr algn="l"/>
                      <a:r>
                        <a:rPr lang="en-US" sz="700" b="1">
                          <a:solidFill>
                            <a:srgbClr val="002060"/>
                          </a:solidFill>
                        </a:rPr>
                        <a:t>Government-Owned</a:t>
                      </a:r>
                      <a:endParaRPr lang="en-US" sz="700" b="1" u="sng">
                        <a:solidFill>
                          <a:srgbClr val="002060"/>
                        </a:solidFill>
                      </a:endParaRPr>
                    </a:p>
                  </a:txBody>
                  <a:tcPr marL="182880"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1" algn="l"/>
                      <a:r>
                        <a:rPr lang="en-US" sz="700">
                          <a:solidFill>
                            <a:schemeClr val="bg2"/>
                          </a:solidFill>
                        </a:rPr>
                        <a:t>This criteria is based on the PRISM-generated indicator of government ownership and a second round of matching to identify government ownership based on the property owner name. </a:t>
                      </a:r>
                    </a:p>
                    <a:p>
                      <a:pPr lvl="1" algn="l"/>
                      <a:endParaRPr lang="en-US" sz="700">
                        <a:solidFill>
                          <a:schemeClr val="bg2"/>
                        </a:solidFill>
                      </a:endParaRPr>
                    </a:p>
                    <a:p>
                      <a:pPr lvl="1" algn="l"/>
                      <a:r>
                        <a:rPr lang="en-US" sz="700">
                          <a:solidFill>
                            <a:schemeClr val="bg2"/>
                          </a:solidFill>
                        </a:rPr>
                        <a:t>For example, if the property name started with “City of Ph.” or “PHDC” or “Office of the District” they were flagged as government-owned.</a:t>
                      </a:r>
                    </a:p>
                  </a:txBody>
                  <a:tcPr marL="274320" anchor="ctr">
                    <a:lnL w="31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1715871"/>
                  </a:ext>
                </a:extLst>
              </a:tr>
              <a:tr h="342680">
                <a:tc>
                  <a:txBody>
                    <a:bodyPr/>
                    <a:lstStyle/>
                    <a:p>
                      <a:pPr algn="l"/>
                      <a:r>
                        <a:rPr lang="en-US" sz="700" b="1">
                          <a:solidFill>
                            <a:srgbClr val="002060"/>
                          </a:solidFill>
                        </a:rPr>
                        <a:t>Rental License</a:t>
                      </a:r>
                    </a:p>
                  </a:txBody>
                  <a:tcPr marL="182880"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1" algn="l"/>
                      <a:r>
                        <a:rPr lang="en-US" sz="700">
                          <a:solidFill>
                            <a:schemeClr val="bg2"/>
                          </a:solidFill>
                        </a:rPr>
                        <a:t>Identifies whether a property has an active rental license.</a:t>
                      </a:r>
                    </a:p>
                  </a:txBody>
                  <a:tcPr marL="274320" anchor="ctr">
                    <a:lnL w="31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99815698"/>
                  </a:ext>
                </a:extLst>
              </a:tr>
              <a:tr h="335250">
                <a:tc>
                  <a:txBody>
                    <a:bodyPr/>
                    <a:lstStyle/>
                    <a:p>
                      <a:pPr algn="l"/>
                      <a:r>
                        <a:rPr lang="en-US" sz="700" b="1">
                          <a:solidFill>
                            <a:srgbClr val="002060"/>
                          </a:solidFill>
                        </a:rPr>
                        <a:t>Not vacant land or garage</a:t>
                      </a:r>
                    </a:p>
                  </a:txBody>
                  <a:tcPr marL="182880"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1" algn="l"/>
                      <a:r>
                        <a:rPr lang="en-US" sz="700">
                          <a:solidFill>
                            <a:schemeClr val="bg2"/>
                          </a:solidFill>
                        </a:rPr>
                        <a:t>Identifies properties that have an OPA Class Code equal to “Garage” or “Vacant Land / Vacant Land – Residential.”</a:t>
                      </a:r>
                    </a:p>
                  </a:txBody>
                  <a:tcPr marL="274320" anchor="ctr">
                    <a:lnL w="31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4666431"/>
                  </a:ext>
                </a:extLst>
              </a:tr>
              <a:tr h="335250">
                <a:tc>
                  <a:txBody>
                    <a:bodyPr/>
                    <a:lstStyle/>
                    <a:p>
                      <a:pPr algn="l"/>
                      <a:r>
                        <a:rPr lang="en-US" sz="700" b="1">
                          <a:solidFill>
                            <a:srgbClr val="002060"/>
                          </a:solidFill>
                        </a:rPr>
                        <a:t>Corporate Owner</a:t>
                      </a:r>
                      <a:endParaRPr lang="en-US" sz="700" b="1" u="sng">
                        <a:solidFill>
                          <a:srgbClr val="002060"/>
                        </a:solidFill>
                      </a:endParaRPr>
                    </a:p>
                  </a:txBody>
                  <a:tcPr marL="182880"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1" algn="l"/>
                      <a:r>
                        <a:rPr lang="en-US" sz="700">
                          <a:solidFill>
                            <a:schemeClr val="bg2"/>
                          </a:solidFill>
                        </a:rPr>
                        <a:t>Based on the property owner name, identifies properties that are likely owned by corporate or other non-natural owners. </a:t>
                      </a:r>
                    </a:p>
                  </a:txBody>
                  <a:tcPr marL="274320" anchor="ctr">
                    <a:lnL w="31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7514578"/>
                  </a:ext>
                </a:extLst>
              </a:tr>
              <a:tr h="335250">
                <a:tc>
                  <a:txBody>
                    <a:bodyPr/>
                    <a:lstStyle/>
                    <a:p>
                      <a:pPr algn="l"/>
                      <a:r>
                        <a:rPr lang="en-US" sz="700" b="1">
                          <a:solidFill>
                            <a:srgbClr val="002060"/>
                          </a:solidFill>
                        </a:rPr>
                        <a:t>Enrolled in Assistance Program</a:t>
                      </a:r>
                    </a:p>
                  </a:txBody>
                  <a:tcPr marL="182880"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1" algn="l"/>
                      <a:r>
                        <a:rPr lang="en-US" sz="700">
                          <a:solidFill>
                            <a:schemeClr val="bg2"/>
                          </a:solidFill>
                        </a:rPr>
                        <a:t>Identifies properties that are enrolled in Homestead, Senior Tax Freeze, LOOP, OOPA, or an Installment Agreement.</a:t>
                      </a:r>
                    </a:p>
                  </a:txBody>
                  <a:tcPr marL="274320" anchor="ctr">
                    <a:lnL w="31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6924309"/>
                  </a:ext>
                </a:extLst>
              </a:tr>
              <a:tr h="320713">
                <a:tc>
                  <a:txBody>
                    <a:bodyPr/>
                    <a:lstStyle/>
                    <a:p>
                      <a:pPr algn="l"/>
                      <a:r>
                        <a:rPr lang="en-US" sz="700" b="1" u="none">
                          <a:solidFill>
                            <a:srgbClr val="002060"/>
                          </a:solidFill>
                        </a:rPr>
                        <a:t>Property and Mailing Address Match</a:t>
                      </a:r>
                    </a:p>
                  </a:txBody>
                  <a:tcPr marL="182880"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1" algn="l"/>
                      <a:r>
                        <a:rPr lang="en-US" sz="700">
                          <a:solidFill>
                            <a:schemeClr val="bg2"/>
                          </a:solidFill>
                        </a:rPr>
                        <a:t>The property and mailing address match </a:t>
                      </a:r>
                      <a:r>
                        <a:rPr lang="en-US" sz="700" i="1" u="sng">
                          <a:solidFill>
                            <a:schemeClr val="bg2"/>
                          </a:solidFill>
                        </a:rPr>
                        <a:t>OR</a:t>
                      </a:r>
                      <a:r>
                        <a:rPr lang="en-US" sz="700">
                          <a:solidFill>
                            <a:schemeClr val="bg2"/>
                          </a:solidFill>
                        </a:rPr>
                        <a:t> there is no mailing address.</a:t>
                      </a:r>
                    </a:p>
                  </a:txBody>
                  <a:tcPr marL="274320" anchor="ctr">
                    <a:lnL w="31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5310649"/>
                  </a:ext>
                </a:extLst>
              </a:tr>
            </a:tbl>
          </a:graphicData>
        </a:graphic>
      </p:graphicFrame>
      <p:sp>
        <p:nvSpPr>
          <p:cNvPr id="9" name="TextBox 8">
            <a:extLst>
              <a:ext uri="{FF2B5EF4-FFF2-40B4-BE49-F238E27FC236}">
                <a16:creationId xmlns:a16="http://schemas.microsoft.com/office/drawing/2014/main" id="{AA7C5978-9B85-74B4-73D9-8EDC7AFBB32F}"/>
              </a:ext>
            </a:extLst>
          </p:cNvPr>
          <p:cNvSpPr txBox="1"/>
          <p:nvPr/>
        </p:nvSpPr>
        <p:spPr>
          <a:xfrm>
            <a:off x="6515064" y="1349871"/>
            <a:ext cx="2019335" cy="2708434"/>
          </a:xfrm>
          <a:prstGeom prst="rect">
            <a:avLst/>
          </a:prstGeom>
          <a:solidFill>
            <a:schemeClr val="bg1">
              <a:lumMod val="95000"/>
            </a:schemeClr>
          </a:solidFill>
          <a:ln>
            <a:solidFill>
              <a:schemeClr val="tx1"/>
            </a:solidFill>
          </a:ln>
        </p:spPr>
        <p:txBody>
          <a:bodyPr wrap="square" rtlCol="0">
            <a:spAutoFit/>
          </a:bodyPr>
          <a:lstStyle/>
          <a:p>
            <a:r>
              <a:rPr lang="en-US" sz="1000" b="1" u="sng">
                <a:solidFill>
                  <a:schemeClr val="tx1"/>
                </a:solidFill>
                <a:latin typeface="Open Sans" panose="020B0606030504020204" pitchFamily="34" charset="0"/>
                <a:ea typeface="Open Sans" panose="020B0606030504020204" pitchFamily="34" charset="0"/>
                <a:cs typeface="Open Sans" panose="020B0606030504020204" pitchFamily="34" charset="0"/>
              </a:rPr>
              <a:t>Balancing Uncertainty</a:t>
            </a:r>
          </a:p>
          <a:p>
            <a:r>
              <a:rPr lang="en-US" sz="1000">
                <a:solidFill>
                  <a:schemeClr val="tx1"/>
                </a:solidFill>
                <a:latin typeface="Open Sans" panose="020B0606030504020204" pitchFamily="34" charset="0"/>
                <a:ea typeface="Open Sans" panose="020B0606030504020204" pitchFamily="34" charset="0"/>
                <a:cs typeface="Open Sans" panose="020B0606030504020204" pitchFamily="34" charset="0"/>
              </a:rPr>
              <a:t>Any estimate of owner-occupied properties based on administrative data must balance the risk of false positive and false negative results.</a:t>
            </a:r>
          </a:p>
          <a:p>
            <a:endParaRPr lang="en-US" sz="100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r>
              <a:rPr lang="en-US" sz="1000">
                <a:solidFill>
                  <a:schemeClr val="tx1"/>
                </a:solidFill>
                <a:latin typeface="Open Sans" panose="020B0606030504020204" pitchFamily="34" charset="0"/>
                <a:ea typeface="Open Sans" panose="020B0606030504020204" pitchFamily="34" charset="0"/>
                <a:cs typeface="Open Sans" panose="020B0606030504020204" pitchFamily="34" charset="0"/>
              </a:rPr>
              <a:t>Less stringent criteria applied increases the chances that ineligible properties are included (false positive). </a:t>
            </a:r>
          </a:p>
          <a:p>
            <a:endParaRPr lang="en-US" sz="100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r>
              <a:rPr lang="en-US" sz="1000">
                <a:solidFill>
                  <a:schemeClr val="tx1"/>
                </a:solidFill>
                <a:latin typeface="Open Sans" panose="020B0606030504020204" pitchFamily="34" charset="0"/>
                <a:ea typeface="Open Sans" panose="020B0606030504020204" pitchFamily="34" charset="0"/>
                <a:cs typeface="Open Sans" panose="020B0606030504020204" pitchFamily="34" charset="0"/>
              </a:rPr>
              <a:t>More stringent criteria increases the likelihood that eligible households are excluded (false negative).</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99149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361652ED-17F6-9E67-0361-FEE6B285FBC5}"/>
              </a:ext>
            </a:extLst>
          </p:cNvPr>
          <p:cNvGraphicFramePr>
            <a:graphicFrameLocks noGrp="1"/>
          </p:cNvGraphicFramePr>
          <p:nvPr>
            <p:extLst>
              <p:ext uri="{D42A27DB-BD31-4B8C-83A1-F6EECF244321}">
                <p14:modId xmlns:p14="http://schemas.microsoft.com/office/powerpoint/2010/main" val="1584073822"/>
              </p:ext>
            </p:extLst>
          </p:nvPr>
        </p:nvGraphicFramePr>
        <p:xfrm>
          <a:off x="254001" y="551385"/>
          <a:ext cx="6524171" cy="3769431"/>
        </p:xfrm>
        <a:graphic>
          <a:graphicData uri="http://schemas.openxmlformats.org/drawingml/2006/table">
            <a:tbl>
              <a:tblPr firstRow="1" bandRow="1">
                <a:tableStyleId>{793D81CF-94F2-401A-BA57-92F5A7B2D0C5}</a:tableStyleId>
              </a:tblPr>
              <a:tblGrid>
                <a:gridCol w="319522">
                  <a:extLst>
                    <a:ext uri="{9D8B030D-6E8A-4147-A177-3AD203B41FA5}">
                      <a16:colId xmlns:a16="http://schemas.microsoft.com/office/drawing/2014/main" val="3746375139"/>
                    </a:ext>
                  </a:extLst>
                </a:gridCol>
                <a:gridCol w="4897142">
                  <a:extLst>
                    <a:ext uri="{9D8B030D-6E8A-4147-A177-3AD203B41FA5}">
                      <a16:colId xmlns:a16="http://schemas.microsoft.com/office/drawing/2014/main" val="1077810971"/>
                    </a:ext>
                  </a:extLst>
                </a:gridCol>
                <a:gridCol w="1307507">
                  <a:extLst>
                    <a:ext uri="{9D8B030D-6E8A-4147-A177-3AD203B41FA5}">
                      <a16:colId xmlns:a16="http://schemas.microsoft.com/office/drawing/2014/main" val="20872555"/>
                    </a:ext>
                  </a:extLst>
                </a:gridCol>
              </a:tblGrid>
              <a:tr h="233799">
                <a:tc>
                  <a:txBody>
                    <a:bodyPr/>
                    <a:lstStyle/>
                    <a:p>
                      <a:pPr algn="ctr"/>
                      <a:endParaRPr lang="en-US" sz="700"/>
                    </a:p>
                  </a:txBody>
                  <a:tcPr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700"/>
                        <a:t>Criteria Applied</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700"/>
                        <a:t>Properties</a:t>
                      </a:r>
                    </a:p>
                  </a:txBody>
                  <a:tcPr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3782734"/>
                  </a:ext>
                </a:extLst>
              </a:tr>
              <a:tr h="351158">
                <a:tc>
                  <a:txBody>
                    <a:bodyPr/>
                    <a:lstStyle/>
                    <a:p>
                      <a:pPr algn="ctr"/>
                      <a:endParaRPr lang="en-US" sz="700" b="1"/>
                    </a:p>
                  </a:txBody>
                  <a:tcPr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700" b="1"/>
                        <a:t>All residential properties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700" b="0"/>
                        <a:t>538,247</a:t>
                      </a:r>
                    </a:p>
                  </a:txBody>
                  <a:tcPr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4336556"/>
                  </a:ext>
                </a:extLst>
              </a:tr>
              <a:tr h="351158">
                <a:tc>
                  <a:txBody>
                    <a:bodyPr/>
                    <a:lstStyle/>
                    <a:p>
                      <a:pPr algn="ctr"/>
                      <a:r>
                        <a:rPr lang="en-US" sz="700"/>
                        <a:t>A</a:t>
                      </a:r>
                    </a:p>
                  </a:txBody>
                  <a:tcPr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700" b="1" u="sng"/>
                        <a:t>Not a ceased account</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700"/>
                        <a:t>538,030</a:t>
                      </a:r>
                    </a:p>
                  </a:txBody>
                  <a:tcPr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79074575"/>
                  </a:ext>
                </a:extLst>
              </a:tr>
              <a:tr h="351158">
                <a:tc>
                  <a:txBody>
                    <a:bodyPr/>
                    <a:lstStyle/>
                    <a:p>
                      <a:pPr algn="ctr"/>
                      <a:r>
                        <a:rPr lang="en-US" sz="700"/>
                        <a:t>B</a:t>
                      </a:r>
                    </a:p>
                  </a:txBody>
                  <a:tcPr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700"/>
                        <a:t>A + </a:t>
                      </a:r>
                      <a:r>
                        <a:rPr lang="en-US" sz="700" b="1" u="sng"/>
                        <a:t>Not Government Owned</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700"/>
                        <a:t>524,321</a:t>
                      </a:r>
                    </a:p>
                  </a:txBody>
                  <a:tcPr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71715871"/>
                  </a:ext>
                </a:extLst>
              </a:tr>
              <a:tr h="375210">
                <a:tc>
                  <a:txBody>
                    <a:bodyPr/>
                    <a:lstStyle/>
                    <a:p>
                      <a:pPr algn="ctr"/>
                      <a:r>
                        <a:rPr lang="en-US" sz="700"/>
                        <a:t>C</a:t>
                      </a:r>
                    </a:p>
                  </a:txBody>
                  <a:tcPr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700"/>
                        <a:t>A + B + </a:t>
                      </a:r>
                      <a:r>
                        <a:rPr lang="en-US" sz="700" b="1" u="sng"/>
                        <a:t>No Rental License OR Rental License w/ Property Assistance Program Enrollment</a:t>
                      </a:r>
                      <a:endParaRPr lang="en-US" sz="7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700"/>
                        <a:t>454,508</a:t>
                      </a:r>
                    </a:p>
                  </a:txBody>
                  <a:tcPr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99815698"/>
                  </a:ext>
                </a:extLst>
              </a:tr>
              <a:tr h="351158">
                <a:tc>
                  <a:txBody>
                    <a:bodyPr/>
                    <a:lstStyle/>
                    <a:p>
                      <a:pPr algn="ctr"/>
                      <a:r>
                        <a:rPr lang="en-US" sz="700"/>
                        <a:t>D</a:t>
                      </a:r>
                    </a:p>
                  </a:txBody>
                  <a:tcPr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700"/>
                        <a:t>A + B + C + </a:t>
                      </a:r>
                      <a:r>
                        <a:rPr lang="en-US" sz="700" b="1" u="sng"/>
                        <a:t>Not Vacant Land or Garage</a:t>
                      </a:r>
                      <a:endParaRPr lang="en-US" sz="7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700"/>
                        <a:t>430,233</a:t>
                      </a:r>
                    </a:p>
                  </a:txBody>
                  <a:tcPr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24666431"/>
                  </a:ext>
                </a:extLst>
              </a:tr>
              <a:tr h="351158">
                <a:tc>
                  <a:txBody>
                    <a:bodyPr/>
                    <a:lstStyle/>
                    <a:p>
                      <a:pPr algn="ctr"/>
                      <a:r>
                        <a:rPr lang="en-US" sz="700"/>
                        <a:t>E</a:t>
                      </a:r>
                    </a:p>
                  </a:txBody>
                  <a:tcPr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700"/>
                        <a:t>A + B + C + D + </a:t>
                      </a:r>
                      <a:r>
                        <a:rPr lang="en-US" sz="700" b="1" u="sng"/>
                        <a:t>Not a Corporate Owner</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700"/>
                        <a:t>401,981</a:t>
                      </a:r>
                    </a:p>
                  </a:txBody>
                  <a:tcPr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77514578"/>
                  </a:ext>
                </a:extLst>
              </a:tr>
              <a:tr h="351158">
                <a:tc>
                  <a:txBody>
                    <a:bodyPr/>
                    <a:lstStyle/>
                    <a:p>
                      <a:pPr algn="ctr"/>
                      <a:r>
                        <a:rPr lang="en-US" sz="700"/>
                        <a:t>F</a:t>
                      </a:r>
                    </a:p>
                  </a:txBody>
                  <a:tcPr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700" b="1" u="sng"/>
                        <a:t>Enrolled in Assistance Program </a:t>
                      </a:r>
                      <a:r>
                        <a:rPr lang="en-US" sz="700" b="0" u="none"/>
                        <a:t>OR</a:t>
                      </a:r>
                      <a:r>
                        <a:rPr lang="en-US" sz="700" b="1" u="sng"/>
                        <a:t> Property and Mailing Address Match </a:t>
                      </a:r>
                      <a:r>
                        <a:rPr lang="en-US" sz="700" b="0" u="none"/>
                        <a:t>OR</a:t>
                      </a:r>
                      <a:r>
                        <a:rPr lang="en-US" sz="700" b="1" u="sng"/>
                        <a:t> No Mailing Address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700">
                          <a:solidFill>
                            <a:schemeClr val="tx1"/>
                          </a:solidFill>
                        </a:rPr>
                        <a:t>355,179</a:t>
                      </a:r>
                    </a:p>
                  </a:txBody>
                  <a:tcPr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7882185"/>
                  </a:ext>
                </a:extLst>
              </a:tr>
              <a:tr h="351158">
                <a:tc>
                  <a:txBody>
                    <a:bodyPr/>
                    <a:lstStyle/>
                    <a:p>
                      <a:pPr algn="ctr"/>
                      <a:r>
                        <a:rPr lang="en-US" sz="700"/>
                        <a:t>G</a:t>
                      </a:r>
                    </a:p>
                  </a:txBody>
                  <a:tcPr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700"/>
                        <a:t>A + B + </a:t>
                      </a:r>
                      <a:r>
                        <a:rPr lang="en-US" sz="700" b="1" u="sng"/>
                        <a:t>Not Corporate Owned</a:t>
                      </a:r>
                      <a:r>
                        <a:rPr lang="en-US" sz="700"/>
                        <a:t> + </a:t>
                      </a:r>
                      <a:r>
                        <a:rPr lang="en-US" sz="700" b="1" u="sng"/>
                        <a:t>Enrolled In Assistance Program </a:t>
                      </a:r>
                      <a:r>
                        <a:rPr lang="en-US" sz="700" b="0" u="none"/>
                        <a:t>OR</a:t>
                      </a:r>
                      <a:r>
                        <a:rPr lang="en-US" sz="700" b="1" u="sng"/>
                        <a:t> Property and Mailing Address Match</a:t>
                      </a:r>
                      <a:r>
                        <a:rPr lang="en-US" sz="700" b="0" u="none"/>
                        <a:t> OR </a:t>
                      </a:r>
                      <a:r>
                        <a:rPr lang="en-US" sz="700" b="1" u="sng"/>
                        <a:t>No Mailing Address</a:t>
                      </a:r>
                      <a:endParaRPr lang="en-US" sz="7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700">
                          <a:solidFill>
                            <a:schemeClr val="tx1"/>
                          </a:solidFill>
                        </a:rPr>
                        <a:t>334,469</a:t>
                      </a:r>
                    </a:p>
                  </a:txBody>
                  <a:tcPr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26924309"/>
                  </a:ext>
                </a:extLst>
              </a:tr>
              <a:tr h="351158">
                <a:tc>
                  <a:txBody>
                    <a:bodyPr/>
                    <a:lstStyle/>
                    <a:p>
                      <a:pPr algn="ctr"/>
                      <a:r>
                        <a:rPr lang="en-US" sz="700"/>
                        <a:t>H</a:t>
                      </a:r>
                    </a:p>
                  </a:txBody>
                  <a:tcPr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700" b="1" u="sng"/>
                        <a:t>Property and Mailing Address Match OR No Mailing Address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700">
                          <a:solidFill>
                            <a:schemeClr val="tx1"/>
                          </a:solidFill>
                        </a:rPr>
                        <a:t>297,862</a:t>
                      </a:r>
                    </a:p>
                  </a:txBody>
                  <a:tcPr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5310649"/>
                  </a:ext>
                </a:extLst>
              </a:tr>
              <a:tr h="351158">
                <a:tc>
                  <a:txBody>
                    <a:bodyPr/>
                    <a:lstStyle/>
                    <a:p>
                      <a:pPr algn="ctr"/>
                      <a:r>
                        <a:rPr lang="en-US" sz="700"/>
                        <a:t>I</a:t>
                      </a:r>
                    </a:p>
                  </a:txBody>
                  <a:tcPr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700" b="1" u="sng"/>
                        <a:t>Enrolled in a Property Tax Assistance Program</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700"/>
                        <a:t>250,963</a:t>
                      </a:r>
                    </a:p>
                  </a:txBody>
                  <a:tcPr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96777105"/>
                  </a:ext>
                </a:extLst>
              </a:tr>
            </a:tbl>
          </a:graphicData>
        </a:graphic>
      </p:graphicFrame>
      <p:sp>
        <p:nvSpPr>
          <p:cNvPr id="9" name="Arrow: Up-Down 8">
            <a:extLst>
              <a:ext uri="{FF2B5EF4-FFF2-40B4-BE49-F238E27FC236}">
                <a16:creationId xmlns:a16="http://schemas.microsoft.com/office/drawing/2014/main" id="{79A766EE-6BFC-09F7-8873-B1CDF97E8A92}"/>
              </a:ext>
            </a:extLst>
          </p:cNvPr>
          <p:cNvSpPr/>
          <p:nvPr/>
        </p:nvSpPr>
        <p:spPr>
          <a:xfrm>
            <a:off x="6956213" y="551385"/>
            <a:ext cx="250613" cy="3769431"/>
          </a:xfrm>
          <a:prstGeom prst="upDownArrow">
            <a:avLst/>
          </a:prstGeom>
          <a:solidFill>
            <a:srgbClr val="FFD08B"/>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519D62F-32C9-F3D4-9322-768CC64E680D}"/>
              </a:ext>
            </a:extLst>
          </p:cNvPr>
          <p:cNvSpPr txBox="1"/>
          <p:nvPr/>
        </p:nvSpPr>
        <p:spPr>
          <a:xfrm>
            <a:off x="7384864" y="551385"/>
            <a:ext cx="1618827" cy="784830"/>
          </a:xfrm>
          <a:prstGeom prst="rect">
            <a:avLst/>
          </a:prstGeom>
          <a:solidFill>
            <a:srgbClr val="95CAFE"/>
          </a:solidFill>
          <a:ln>
            <a:solidFill>
              <a:schemeClr val="tx1"/>
            </a:solidFill>
          </a:ln>
        </p:spPr>
        <p:txBody>
          <a:bodyPr wrap="square" rtlCol="0">
            <a:spAutoFit/>
          </a:bodyPr>
          <a:lstStyle/>
          <a:p>
            <a:r>
              <a:rPr lang="en-US" sz="900" b="1" u="sng">
                <a:solidFill>
                  <a:schemeClr val="tx1"/>
                </a:solidFill>
                <a:latin typeface="Open Sans" panose="020B0606030504020204" pitchFamily="34" charset="0"/>
                <a:ea typeface="Open Sans" panose="020B0606030504020204" pitchFamily="34" charset="0"/>
                <a:cs typeface="Open Sans" panose="020B0606030504020204" pitchFamily="34" charset="0"/>
              </a:rPr>
              <a:t>Increased chance of False Positive</a:t>
            </a:r>
          </a:p>
          <a:p>
            <a:r>
              <a:rPr lang="en-US" sz="900">
                <a:latin typeface="Open Sans" panose="020B0606030504020204" pitchFamily="34" charset="0"/>
                <a:ea typeface="Open Sans" panose="020B0606030504020204" pitchFamily="34" charset="0"/>
                <a:cs typeface="Open Sans" panose="020B0606030504020204" pitchFamily="34" charset="0"/>
              </a:rPr>
              <a:t>Properties are </a:t>
            </a:r>
            <a:r>
              <a:rPr lang="en-US" sz="900" i="1" u="sng">
                <a:latin typeface="Open Sans" panose="020B0606030504020204" pitchFamily="34" charset="0"/>
                <a:ea typeface="Open Sans" panose="020B0606030504020204" pitchFamily="34" charset="0"/>
                <a:cs typeface="Open Sans" panose="020B0606030504020204" pitchFamily="34" charset="0"/>
              </a:rPr>
              <a:t>included</a:t>
            </a:r>
            <a:r>
              <a:rPr lang="en-US" sz="900">
                <a:latin typeface="Open Sans" panose="020B0606030504020204" pitchFamily="34" charset="0"/>
                <a:ea typeface="Open Sans" panose="020B0606030504020204" pitchFamily="34" charset="0"/>
                <a:cs typeface="Open Sans" panose="020B0606030504020204" pitchFamily="34" charset="0"/>
              </a:rPr>
              <a:t> that are </a:t>
            </a:r>
            <a:r>
              <a:rPr lang="en-US" sz="900" i="1" u="sng">
                <a:latin typeface="Open Sans" panose="020B0606030504020204" pitchFamily="34" charset="0"/>
                <a:ea typeface="Open Sans" panose="020B0606030504020204" pitchFamily="34" charset="0"/>
                <a:cs typeface="Open Sans" panose="020B0606030504020204" pitchFamily="34" charset="0"/>
              </a:rPr>
              <a:t>not</a:t>
            </a:r>
            <a:r>
              <a:rPr lang="en-US" sz="900">
                <a:latin typeface="Open Sans" panose="020B0606030504020204" pitchFamily="34" charset="0"/>
                <a:ea typeface="Open Sans" panose="020B0606030504020204" pitchFamily="34" charset="0"/>
                <a:cs typeface="Open Sans" panose="020B0606030504020204" pitchFamily="34" charset="0"/>
              </a:rPr>
              <a:t> owner-occupied</a:t>
            </a:r>
          </a:p>
        </p:txBody>
      </p:sp>
      <p:sp>
        <p:nvSpPr>
          <p:cNvPr id="11" name="TextBox 10">
            <a:extLst>
              <a:ext uri="{FF2B5EF4-FFF2-40B4-BE49-F238E27FC236}">
                <a16:creationId xmlns:a16="http://schemas.microsoft.com/office/drawing/2014/main" id="{3B7F1D07-ED3F-AE1D-1246-4E22441972A2}"/>
              </a:ext>
            </a:extLst>
          </p:cNvPr>
          <p:cNvSpPr txBox="1"/>
          <p:nvPr/>
        </p:nvSpPr>
        <p:spPr>
          <a:xfrm>
            <a:off x="7384867" y="3674485"/>
            <a:ext cx="1618827" cy="646331"/>
          </a:xfrm>
          <a:prstGeom prst="rect">
            <a:avLst/>
          </a:prstGeom>
          <a:solidFill>
            <a:srgbClr val="95CAFE"/>
          </a:solidFill>
          <a:ln>
            <a:solidFill>
              <a:schemeClr val="tx1"/>
            </a:solidFill>
          </a:ln>
        </p:spPr>
        <p:txBody>
          <a:bodyPr wrap="square" rtlCol="0">
            <a:spAutoFit/>
          </a:bodyPr>
          <a:lstStyle/>
          <a:p>
            <a:r>
              <a:rPr lang="en-US" sz="900" b="1" u="sng">
                <a:solidFill>
                  <a:schemeClr val="tx1"/>
                </a:solidFill>
                <a:latin typeface="Open Sans" panose="020B0606030504020204" pitchFamily="34" charset="0"/>
                <a:ea typeface="Open Sans" panose="020B0606030504020204" pitchFamily="34" charset="0"/>
                <a:cs typeface="Open Sans" panose="020B0606030504020204" pitchFamily="34" charset="0"/>
              </a:rPr>
              <a:t>Increased chance of False Negative</a:t>
            </a:r>
          </a:p>
          <a:p>
            <a:r>
              <a:rPr lang="en-US" sz="900">
                <a:latin typeface="Open Sans" panose="020B0606030504020204" pitchFamily="34" charset="0"/>
                <a:ea typeface="Open Sans" panose="020B0606030504020204" pitchFamily="34" charset="0"/>
                <a:cs typeface="Open Sans" panose="020B0606030504020204" pitchFamily="34" charset="0"/>
              </a:rPr>
              <a:t>Properties are </a:t>
            </a:r>
            <a:r>
              <a:rPr lang="en-US" sz="900" i="1" u="sng">
                <a:latin typeface="Open Sans" panose="020B0606030504020204" pitchFamily="34" charset="0"/>
                <a:ea typeface="Open Sans" panose="020B0606030504020204" pitchFamily="34" charset="0"/>
                <a:cs typeface="Open Sans" panose="020B0606030504020204" pitchFamily="34" charset="0"/>
              </a:rPr>
              <a:t>excluded</a:t>
            </a:r>
            <a:r>
              <a:rPr lang="en-US" sz="900">
                <a:latin typeface="Open Sans" panose="020B0606030504020204" pitchFamily="34" charset="0"/>
                <a:ea typeface="Open Sans" panose="020B0606030504020204" pitchFamily="34" charset="0"/>
                <a:cs typeface="Open Sans" panose="020B0606030504020204" pitchFamily="34" charset="0"/>
              </a:rPr>
              <a:t> that </a:t>
            </a:r>
            <a:r>
              <a:rPr lang="en-US" sz="900" i="1" u="sng">
                <a:latin typeface="Open Sans" panose="020B0606030504020204" pitchFamily="34" charset="0"/>
                <a:ea typeface="Open Sans" panose="020B0606030504020204" pitchFamily="34" charset="0"/>
                <a:cs typeface="Open Sans" panose="020B0606030504020204" pitchFamily="34" charset="0"/>
              </a:rPr>
              <a:t>are</a:t>
            </a:r>
            <a:r>
              <a:rPr lang="en-US" sz="900">
                <a:latin typeface="Open Sans" panose="020B0606030504020204" pitchFamily="34" charset="0"/>
                <a:ea typeface="Open Sans" panose="020B0606030504020204" pitchFamily="34" charset="0"/>
                <a:cs typeface="Open Sans" panose="020B0606030504020204" pitchFamily="34" charset="0"/>
              </a:rPr>
              <a:t> owner-occupied</a:t>
            </a:r>
          </a:p>
        </p:txBody>
      </p:sp>
      <p:sp>
        <p:nvSpPr>
          <p:cNvPr id="12" name="TextBox 11">
            <a:extLst>
              <a:ext uri="{FF2B5EF4-FFF2-40B4-BE49-F238E27FC236}">
                <a16:creationId xmlns:a16="http://schemas.microsoft.com/office/drawing/2014/main" id="{12E13E56-C07D-B42F-D12B-ABCA552C1D7C}"/>
              </a:ext>
            </a:extLst>
          </p:cNvPr>
          <p:cNvSpPr txBox="1"/>
          <p:nvPr/>
        </p:nvSpPr>
        <p:spPr>
          <a:xfrm>
            <a:off x="7384865" y="2752077"/>
            <a:ext cx="1618827" cy="646331"/>
          </a:xfrm>
          <a:prstGeom prst="rect">
            <a:avLst/>
          </a:prstGeom>
          <a:solidFill>
            <a:srgbClr val="54BC4D">
              <a:alpha val="32941"/>
            </a:srgbClr>
          </a:solidFill>
          <a:ln>
            <a:solidFill>
              <a:schemeClr val="tx1"/>
            </a:solidFill>
          </a:ln>
        </p:spPr>
        <p:txBody>
          <a:bodyPr wrap="square" rtlCol="0">
            <a:spAutoFit/>
          </a:bodyPr>
          <a:lstStyle/>
          <a:p>
            <a:r>
              <a:rPr lang="en-US" sz="900" b="1" u="sng">
                <a:solidFill>
                  <a:schemeClr val="tx1"/>
                </a:solidFill>
                <a:latin typeface="Open Sans" panose="020B0606030504020204" pitchFamily="34" charset="0"/>
                <a:ea typeface="Open Sans" panose="020B0606030504020204" pitchFamily="34" charset="0"/>
                <a:cs typeface="Open Sans" panose="020B0606030504020204" pitchFamily="34" charset="0"/>
              </a:rPr>
              <a:t>~ 344 - 353,000</a:t>
            </a:r>
            <a:r>
              <a:rPr lang="en-US" sz="900" b="1">
                <a:solidFill>
                  <a:schemeClr val="tx1"/>
                </a:solidFill>
                <a:latin typeface="Open Sans" panose="020B0606030504020204" pitchFamily="34" charset="0"/>
                <a:ea typeface="Open Sans" panose="020B0606030504020204" pitchFamily="34" charset="0"/>
                <a:cs typeface="Open Sans" panose="020B0606030504020204" pitchFamily="34" charset="0"/>
              </a:rPr>
              <a:t> </a:t>
            </a:r>
          </a:p>
          <a:p>
            <a:r>
              <a:rPr lang="en-US" sz="900">
                <a:solidFill>
                  <a:schemeClr val="tx1"/>
                </a:solidFill>
                <a:latin typeface="Open Sans" panose="020B0606030504020204" pitchFamily="34" charset="0"/>
                <a:ea typeface="Open Sans" panose="020B0606030504020204" pitchFamily="34" charset="0"/>
                <a:cs typeface="Open Sans" panose="020B0606030504020204" pitchFamily="34" charset="0"/>
              </a:rPr>
              <a:t>Census estimate of </a:t>
            </a:r>
          </a:p>
          <a:p>
            <a:r>
              <a:rPr lang="en-US" sz="900">
                <a:solidFill>
                  <a:schemeClr val="tx1"/>
                </a:solidFill>
                <a:latin typeface="Open Sans" panose="020B0606030504020204" pitchFamily="34" charset="0"/>
                <a:ea typeface="Open Sans" panose="020B0606030504020204" pitchFamily="34" charset="0"/>
                <a:cs typeface="Open Sans" panose="020B0606030504020204" pitchFamily="34" charset="0"/>
              </a:rPr>
              <a:t>owner-occupied households</a:t>
            </a:r>
          </a:p>
        </p:txBody>
      </p:sp>
    </p:spTree>
    <p:extLst>
      <p:ext uri="{BB962C8B-B14F-4D97-AF65-F5344CB8AC3E}">
        <p14:creationId xmlns:p14="http://schemas.microsoft.com/office/powerpoint/2010/main" val="4113221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908C14-0277-7978-D17B-1FBBB143EC4D}"/>
              </a:ext>
            </a:extLst>
          </p:cNvPr>
          <p:cNvSpPr txBox="1"/>
          <p:nvPr/>
        </p:nvSpPr>
        <p:spPr>
          <a:xfrm>
            <a:off x="6917508" y="1107392"/>
            <a:ext cx="2131665" cy="3000821"/>
          </a:xfrm>
          <a:prstGeom prst="rect">
            <a:avLst/>
          </a:prstGeom>
          <a:solidFill>
            <a:srgbClr val="95CAFE"/>
          </a:solidFill>
          <a:ln>
            <a:solidFill>
              <a:schemeClr val="tx1"/>
            </a:solidFill>
          </a:ln>
        </p:spPr>
        <p:txBody>
          <a:bodyPr wrap="square" rtlCol="0">
            <a:spAutoFit/>
          </a:bodyPr>
          <a:lstStyle/>
          <a:p>
            <a:r>
              <a:rPr lang="en-US" sz="900" b="1" u="sng">
                <a:solidFill>
                  <a:schemeClr val="tx1"/>
                </a:solidFill>
                <a:latin typeface="Open Sans" panose="020B0606030504020204" pitchFamily="34" charset="0"/>
                <a:ea typeface="Open Sans" panose="020B0606030504020204" pitchFamily="34" charset="0"/>
                <a:cs typeface="Open Sans" panose="020B0606030504020204" pitchFamily="34" charset="0"/>
              </a:rPr>
              <a:t>Recommendation</a:t>
            </a:r>
          </a:p>
          <a:p>
            <a:r>
              <a:rPr lang="en-US" sz="900">
                <a:solidFill>
                  <a:schemeClr val="tx1"/>
                </a:solidFill>
                <a:latin typeface="Open Sans" panose="020B0606030504020204" pitchFamily="34" charset="0"/>
                <a:ea typeface="Open Sans" panose="020B0606030504020204" pitchFamily="34" charset="0"/>
                <a:cs typeface="Open Sans" panose="020B0606030504020204" pitchFamily="34" charset="0"/>
              </a:rPr>
              <a:t>We recommend using the criteria highlighted in the table and outlined below to balance the tradeoff of false positive and false negative results. Given the project context, we believe it is appropriate to include a wider population of properties than to risk excluding eligible households.</a:t>
            </a:r>
          </a:p>
          <a:p>
            <a:endParaRPr lang="en-US" sz="90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r>
              <a:rPr lang="en-US" sz="900" b="1" u="sng">
                <a:solidFill>
                  <a:schemeClr val="tx1"/>
                </a:solidFill>
                <a:latin typeface="Open Sans" panose="020B0606030504020204" pitchFamily="34" charset="0"/>
                <a:ea typeface="Open Sans" panose="020B0606030504020204" pitchFamily="34" charset="0"/>
                <a:cs typeface="Open Sans" panose="020B0606030504020204" pitchFamily="34" charset="0"/>
              </a:rPr>
              <a:t>Criteria</a:t>
            </a:r>
            <a:endParaRPr lang="en-US" sz="90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171450" indent="-171450">
              <a:buFont typeface="Arial" panose="020B0604020202020204" pitchFamily="34" charset="0"/>
              <a:buChar char="•"/>
            </a:pPr>
            <a:r>
              <a:rPr lang="en-US" sz="900">
                <a:solidFill>
                  <a:schemeClr val="tx1"/>
                </a:solidFill>
                <a:latin typeface="Open Sans" panose="020B0606030504020204" pitchFamily="34" charset="0"/>
                <a:ea typeface="Open Sans" panose="020B0606030504020204" pitchFamily="34" charset="0"/>
                <a:cs typeface="Open Sans" panose="020B0606030504020204" pitchFamily="34" charset="0"/>
              </a:rPr>
              <a:t>Not a ceased account;</a:t>
            </a:r>
          </a:p>
          <a:p>
            <a:pPr marL="171450" indent="-171450">
              <a:buFont typeface="Arial" panose="020B0604020202020204" pitchFamily="34" charset="0"/>
              <a:buChar char="•"/>
            </a:pPr>
            <a:r>
              <a:rPr lang="en-US" sz="900">
                <a:solidFill>
                  <a:schemeClr val="tx1"/>
                </a:solidFill>
                <a:latin typeface="Open Sans" panose="020B0606030504020204" pitchFamily="34" charset="0"/>
                <a:ea typeface="Open Sans" panose="020B0606030504020204" pitchFamily="34" charset="0"/>
                <a:cs typeface="Open Sans" panose="020B0606030504020204" pitchFamily="34" charset="0"/>
              </a:rPr>
              <a:t>Not government owned;</a:t>
            </a:r>
          </a:p>
          <a:p>
            <a:pPr marL="171450" indent="-171450">
              <a:buFont typeface="Arial" panose="020B0604020202020204" pitchFamily="34" charset="0"/>
              <a:buChar char="•"/>
            </a:pPr>
            <a:r>
              <a:rPr lang="en-US" sz="900">
                <a:solidFill>
                  <a:schemeClr val="tx1"/>
                </a:solidFill>
                <a:latin typeface="Open Sans" panose="020B0606030504020204" pitchFamily="34" charset="0"/>
                <a:ea typeface="Open Sans" panose="020B0606030504020204" pitchFamily="34" charset="0"/>
                <a:cs typeface="Open Sans" panose="020B0606030504020204" pitchFamily="34" charset="0"/>
              </a:rPr>
              <a:t>Does not have a rental license OR has a rental license and enrolled in a property assistance program;</a:t>
            </a:r>
          </a:p>
          <a:p>
            <a:pPr marL="171450" indent="-171450">
              <a:buFont typeface="Arial" panose="020B0604020202020204" pitchFamily="34" charset="0"/>
              <a:buChar char="•"/>
            </a:pPr>
            <a:r>
              <a:rPr lang="en-US" sz="900">
                <a:solidFill>
                  <a:schemeClr val="tx1"/>
                </a:solidFill>
                <a:latin typeface="Open Sans" panose="020B0606030504020204" pitchFamily="34" charset="0"/>
                <a:ea typeface="Open Sans" panose="020B0606030504020204" pitchFamily="34" charset="0"/>
                <a:cs typeface="Open Sans" panose="020B0606030504020204" pitchFamily="34" charset="0"/>
              </a:rPr>
              <a:t>Not vacant land or a garage; and</a:t>
            </a:r>
          </a:p>
          <a:p>
            <a:pPr marL="171450" indent="-171450">
              <a:buFont typeface="Arial" panose="020B0604020202020204" pitchFamily="34" charset="0"/>
              <a:buChar char="•"/>
            </a:pPr>
            <a:r>
              <a:rPr lang="en-US" sz="900">
                <a:solidFill>
                  <a:schemeClr val="tx1"/>
                </a:solidFill>
                <a:latin typeface="Open Sans" panose="020B0606030504020204" pitchFamily="34" charset="0"/>
                <a:ea typeface="Open Sans" panose="020B0606030504020204" pitchFamily="34" charset="0"/>
                <a:cs typeface="Open Sans" panose="020B0606030504020204" pitchFamily="34" charset="0"/>
              </a:rPr>
              <a:t>Not a corporate owner.</a:t>
            </a:r>
          </a:p>
          <a:p>
            <a:pPr marL="171450" indent="-171450">
              <a:buFont typeface="Arial" panose="020B0604020202020204" pitchFamily="34" charset="0"/>
              <a:buChar char="•"/>
            </a:pPr>
            <a:endParaRPr lang="en-US" sz="900">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4" name="Table 3">
            <a:extLst>
              <a:ext uri="{FF2B5EF4-FFF2-40B4-BE49-F238E27FC236}">
                <a16:creationId xmlns:a16="http://schemas.microsoft.com/office/drawing/2014/main" id="{BB0B8690-3529-0693-2924-8A8FE7E80B96}"/>
              </a:ext>
            </a:extLst>
          </p:cNvPr>
          <p:cNvGraphicFramePr>
            <a:graphicFrameLocks noGrp="1"/>
          </p:cNvGraphicFramePr>
          <p:nvPr>
            <p:extLst>
              <p:ext uri="{D42A27DB-BD31-4B8C-83A1-F6EECF244321}">
                <p14:modId xmlns:p14="http://schemas.microsoft.com/office/powerpoint/2010/main" val="915309542"/>
              </p:ext>
            </p:extLst>
          </p:nvPr>
        </p:nvGraphicFramePr>
        <p:xfrm>
          <a:off x="254001" y="551385"/>
          <a:ext cx="6524171" cy="3769431"/>
        </p:xfrm>
        <a:graphic>
          <a:graphicData uri="http://schemas.openxmlformats.org/drawingml/2006/table">
            <a:tbl>
              <a:tblPr firstRow="1" bandRow="1">
                <a:tableStyleId>{793D81CF-94F2-401A-BA57-92F5A7B2D0C5}</a:tableStyleId>
              </a:tblPr>
              <a:tblGrid>
                <a:gridCol w="319522">
                  <a:extLst>
                    <a:ext uri="{9D8B030D-6E8A-4147-A177-3AD203B41FA5}">
                      <a16:colId xmlns:a16="http://schemas.microsoft.com/office/drawing/2014/main" val="3746375139"/>
                    </a:ext>
                  </a:extLst>
                </a:gridCol>
                <a:gridCol w="4897142">
                  <a:extLst>
                    <a:ext uri="{9D8B030D-6E8A-4147-A177-3AD203B41FA5}">
                      <a16:colId xmlns:a16="http://schemas.microsoft.com/office/drawing/2014/main" val="1077810971"/>
                    </a:ext>
                  </a:extLst>
                </a:gridCol>
                <a:gridCol w="1307507">
                  <a:extLst>
                    <a:ext uri="{9D8B030D-6E8A-4147-A177-3AD203B41FA5}">
                      <a16:colId xmlns:a16="http://schemas.microsoft.com/office/drawing/2014/main" val="20872555"/>
                    </a:ext>
                  </a:extLst>
                </a:gridCol>
              </a:tblGrid>
              <a:tr h="233799">
                <a:tc>
                  <a:txBody>
                    <a:bodyPr/>
                    <a:lstStyle/>
                    <a:p>
                      <a:pPr algn="ctr"/>
                      <a:endParaRPr lang="en-US" sz="7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700"/>
                        <a:t>Criteria Applied</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700"/>
                        <a:t>Properties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3782734"/>
                  </a:ext>
                </a:extLst>
              </a:tr>
              <a:tr h="351158">
                <a:tc>
                  <a:txBody>
                    <a:bodyPr/>
                    <a:lstStyle/>
                    <a:p>
                      <a:pPr algn="ctr"/>
                      <a:endParaRPr lang="en-US" sz="700" b="1"/>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a:solidFill>
                            <a:schemeClr val="bg1">
                              <a:lumMod val="50000"/>
                            </a:schemeClr>
                          </a:solidFill>
                        </a:rPr>
                        <a:t>All residential properties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a:solidFill>
                            <a:schemeClr val="bg1">
                              <a:lumMod val="50000"/>
                            </a:schemeClr>
                          </a:solidFill>
                        </a:rPr>
                        <a:t>538,247</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4336556"/>
                  </a:ext>
                </a:extLst>
              </a:tr>
              <a:tr h="351158">
                <a:tc>
                  <a:txBody>
                    <a:bodyPr/>
                    <a:lstStyle/>
                    <a:p>
                      <a:pPr algn="ctr"/>
                      <a:r>
                        <a:rPr lang="en-US" sz="700">
                          <a:solidFill>
                            <a:schemeClr val="bg1">
                              <a:lumMod val="50000"/>
                            </a:schemeClr>
                          </a:solidFill>
                        </a:rPr>
                        <a:t>A</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u="sng">
                          <a:solidFill>
                            <a:schemeClr val="bg1">
                              <a:lumMod val="50000"/>
                            </a:schemeClr>
                          </a:solidFill>
                        </a:rPr>
                        <a:t>Not a ceased account</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a:solidFill>
                            <a:schemeClr val="bg1">
                              <a:lumMod val="50000"/>
                            </a:schemeClr>
                          </a:solidFill>
                        </a:rPr>
                        <a:t>538,030</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9074575"/>
                  </a:ext>
                </a:extLst>
              </a:tr>
              <a:tr h="351158">
                <a:tc>
                  <a:txBody>
                    <a:bodyPr/>
                    <a:lstStyle/>
                    <a:p>
                      <a:pPr algn="ctr"/>
                      <a:r>
                        <a:rPr lang="en-US" sz="700">
                          <a:solidFill>
                            <a:schemeClr val="bg1">
                              <a:lumMod val="50000"/>
                            </a:schemeClr>
                          </a:solidFill>
                        </a:rPr>
                        <a:t>B</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a:solidFill>
                            <a:schemeClr val="bg1">
                              <a:lumMod val="50000"/>
                            </a:schemeClr>
                          </a:solidFill>
                        </a:rPr>
                        <a:t>A + </a:t>
                      </a:r>
                      <a:r>
                        <a:rPr lang="en-US" sz="700" b="0" u="sng">
                          <a:solidFill>
                            <a:schemeClr val="bg1">
                              <a:lumMod val="50000"/>
                            </a:schemeClr>
                          </a:solidFill>
                        </a:rPr>
                        <a:t>Not Government Owned</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a:solidFill>
                            <a:schemeClr val="bg1">
                              <a:lumMod val="50000"/>
                            </a:schemeClr>
                          </a:solidFill>
                        </a:rPr>
                        <a:t>524,321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1715871"/>
                  </a:ext>
                </a:extLst>
              </a:tr>
              <a:tr h="375210">
                <a:tc>
                  <a:txBody>
                    <a:bodyPr/>
                    <a:lstStyle/>
                    <a:p>
                      <a:pPr algn="ctr"/>
                      <a:r>
                        <a:rPr lang="en-US" sz="700">
                          <a:solidFill>
                            <a:schemeClr val="bg1">
                              <a:lumMod val="50000"/>
                            </a:schemeClr>
                          </a:solidFill>
                        </a:rPr>
                        <a:t>C</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a:solidFill>
                            <a:schemeClr val="bg1">
                              <a:lumMod val="50000"/>
                            </a:schemeClr>
                          </a:solidFill>
                        </a:rPr>
                        <a:t>A + B + </a:t>
                      </a:r>
                      <a:r>
                        <a:rPr lang="en-US" sz="700" b="0" u="sng">
                          <a:solidFill>
                            <a:schemeClr val="bg1">
                              <a:lumMod val="50000"/>
                            </a:schemeClr>
                          </a:solidFill>
                        </a:rPr>
                        <a:t>No Rental License OR Rental License w/ Property Assistance Program Enrollment</a:t>
                      </a:r>
                      <a:endParaRPr lang="en-US" sz="700" b="0">
                        <a:solidFill>
                          <a:schemeClr val="bg1">
                            <a:lumMod val="50000"/>
                          </a:schemeClr>
                        </a:solidFill>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a:solidFill>
                            <a:schemeClr val="bg1">
                              <a:lumMod val="50000"/>
                            </a:schemeClr>
                          </a:solidFill>
                        </a:rPr>
                        <a:t>454,508</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99815698"/>
                  </a:ext>
                </a:extLst>
              </a:tr>
              <a:tr h="351158">
                <a:tc>
                  <a:txBody>
                    <a:bodyPr/>
                    <a:lstStyle/>
                    <a:p>
                      <a:pPr algn="ctr"/>
                      <a:r>
                        <a:rPr lang="en-US" sz="700">
                          <a:solidFill>
                            <a:schemeClr val="bg1">
                              <a:lumMod val="50000"/>
                            </a:schemeClr>
                          </a:solidFill>
                        </a:rPr>
                        <a:t>D</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a:solidFill>
                            <a:schemeClr val="bg1">
                              <a:lumMod val="50000"/>
                            </a:schemeClr>
                          </a:solidFill>
                        </a:rPr>
                        <a:t>A + B + C + </a:t>
                      </a:r>
                      <a:r>
                        <a:rPr lang="en-US" sz="700" b="0" u="sng">
                          <a:solidFill>
                            <a:schemeClr val="bg1">
                              <a:lumMod val="50000"/>
                            </a:schemeClr>
                          </a:solidFill>
                        </a:rPr>
                        <a:t>Not Vacant Land or Garage</a:t>
                      </a:r>
                      <a:endParaRPr lang="en-US" sz="700" b="0">
                        <a:solidFill>
                          <a:schemeClr val="bg1">
                            <a:lumMod val="50000"/>
                          </a:schemeClr>
                        </a:solidFill>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a:solidFill>
                            <a:schemeClr val="bg1">
                              <a:lumMod val="50000"/>
                            </a:schemeClr>
                          </a:solidFill>
                        </a:rPr>
                        <a:t>430,233</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4666431"/>
                  </a:ext>
                </a:extLst>
              </a:tr>
              <a:tr h="351158">
                <a:tc>
                  <a:txBody>
                    <a:bodyPr/>
                    <a:lstStyle/>
                    <a:p>
                      <a:pPr algn="ctr"/>
                      <a:r>
                        <a:rPr lang="en-US" sz="700" b="1">
                          <a:solidFill>
                            <a:srgbClr val="002060"/>
                          </a:solidFill>
                        </a:rPr>
                        <a:t>E</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5CAFE"/>
                    </a:solidFill>
                  </a:tcPr>
                </a:tc>
                <a:tc>
                  <a:txBody>
                    <a:bodyPr/>
                    <a:lstStyle/>
                    <a:p>
                      <a:pPr algn="ctr"/>
                      <a:r>
                        <a:rPr lang="en-US" sz="700" b="1">
                          <a:solidFill>
                            <a:srgbClr val="002060"/>
                          </a:solidFill>
                        </a:rPr>
                        <a:t>A + B + C + D + </a:t>
                      </a:r>
                      <a:r>
                        <a:rPr lang="en-US" sz="700" b="1" u="sng">
                          <a:solidFill>
                            <a:srgbClr val="002060"/>
                          </a:solidFill>
                        </a:rPr>
                        <a:t>Not a Corporate Owner</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5CAFE"/>
                    </a:solidFill>
                  </a:tcPr>
                </a:tc>
                <a:tc>
                  <a:txBody>
                    <a:bodyPr/>
                    <a:lstStyle/>
                    <a:p>
                      <a:pPr algn="ctr"/>
                      <a:r>
                        <a:rPr lang="en-US" sz="700" b="1">
                          <a:solidFill>
                            <a:srgbClr val="002060"/>
                          </a:solidFill>
                        </a:rPr>
                        <a:t>401,981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5CAFE"/>
                    </a:solidFill>
                  </a:tcPr>
                </a:tc>
                <a:extLst>
                  <a:ext uri="{0D108BD9-81ED-4DB2-BD59-A6C34878D82A}">
                    <a16:rowId xmlns:a16="http://schemas.microsoft.com/office/drawing/2014/main" val="3977514578"/>
                  </a:ext>
                </a:extLst>
              </a:tr>
              <a:tr h="351158">
                <a:tc>
                  <a:txBody>
                    <a:bodyPr/>
                    <a:lstStyle/>
                    <a:p>
                      <a:pPr algn="ctr"/>
                      <a:r>
                        <a:rPr lang="en-US" sz="700">
                          <a:solidFill>
                            <a:schemeClr val="bg1">
                              <a:lumMod val="50000"/>
                            </a:schemeClr>
                          </a:solidFill>
                        </a:rPr>
                        <a:t>F</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u="sng">
                          <a:solidFill>
                            <a:schemeClr val="bg1">
                              <a:lumMod val="50000"/>
                            </a:schemeClr>
                          </a:solidFill>
                        </a:rPr>
                        <a:t>Enrolled in Assistance Program </a:t>
                      </a:r>
                      <a:r>
                        <a:rPr lang="en-US" sz="700" b="0" u="none">
                          <a:solidFill>
                            <a:schemeClr val="bg1">
                              <a:lumMod val="50000"/>
                            </a:schemeClr>
                          </a:solidFill>
                        </a:rPr>
                        <a:t>OR</a:t>
                      </a:r>
                      <a:r>
                        <a:rPr lang="en-US" sz="700" b="0" u="sng">
                          <a:solidFill>
                            <a:schemeClr val="bg1">
                              <a:lumMod val="50000"/>
                            </a:schemeClr>
                          </a:solidFill>
                        </a:rPr>
                        <a:t> Property and Mailing Address Match </a:t>
                      </a:r>
                      <a:r>
                        <a:rPr lang="en-US" sz="700" b="0" u="none">
                          <a:solidFill>
                            <a:schemeClr val="bg1">
                              <a:lumMod val="50000"/>
                            </a:schemeClr>
                          </a:solidFill>
                        </a:rPr>
                        <a:t>OR</a:t>
                      </a:r>
                      <a:r>
                        <a:rPr lang="en-US" sz="700" b="0" u="sng">
                          <a:solidFill>
                            <a:schemeClr val="bg1">
                              <a:lumMod val="50000"/>
                            </a:schemeClr>
                          </a:solidFill>
                        </a:rPr>
                        <a:t> No Mailing Address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a:solidFill>
                            <a:schemeClr val="bg1">
                              <a:lumMod val="50000"/>
                            </a:schemeClr>
                          </a:solidFill>
                        </a:rPr>
                        <a:t>355,179</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7882185"/>
                  </a:ext>
                </a:extLst>
              </a:tr>
              <a:tr h="351158">
                <a:tc>
                  <a:txBody>
                    <a:bodyPr/>
                    <a:lstStyle/>
                    <a:p>
                      <a:pPr algn="ctr"/>
                      <a:r>
                        <a:rPr lang="en-US" sz="700">
                          <a:solidFill>
                            <a:schemeClr val="bg1">
                              <a:lumMod val="50000"/>
                            </a:schemeClr>
                          </a:solidFill>
                        </a:rPr>
                        <a:t>G</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a:solidFill>
                            <a:schemeClr val="bg1">
                              <a:lumMod val="50000"/>
                            </a:schemeClr>
                          </a:solidFill>
                        </a:rPr>
                        <a:t>A + B + </a:t>
                      </a:r>
                      <a:r>
                        <a:rPr lang="en-US" sz="700" b="0" u="sng">
                          <a:solidFill>
                            <a:schemeClr val="bg1">
                              <a:lumMod val="50000"/>
                            </a:schemeClr>
                          </a:solidFill>
                        </a:rPr>
                        <a:t>Not Corporate Owned</a:t>
                      </a:r>
                      <a:r>
                        <a:rPr lang="en-US" sz="700" b="0">
                          <a:solidFill>
                            <a:schemeClr val="bg1">
                              <a:lumMod val="50000"/>
                            </a:schemeClr>
                          </a:solidFill>
                        </a:rPr>
                        <a:t> + </a:t>
                      </a:r>
                      <a:r>
                        <a:rPr lang="en-US" sz="700" b="0" u="sng">
                          <a:solidFill>
                            <a:schemeClr val="bg1">
                              <a:lumMod val="50000"/>
                            </a:schemeClr>
                          </a:solidFill>
                        </a:rPr>
                        <a:t>Enrolled In Assistance Program </a:t>
                      </a:r>
                      <a:r>
                        <a:rPr lang="en-US" sz="700" b="0" u="none">
                          <a:solidFill>
                            <a:schemeClr val="bg1">
                              <a:lumMod val="50000"/>
                            </a:schemeClr>
                          </a:solidFill>
                        </a:rPr>
                        <a:t>OR</a:t>
                      </a:r>
                      <a:r>
                        <a:rPr lang="en-US" sz="700" b="0" u="sng">
                          <a:solidFill>
                            <a:schemeClr val="bg1">
                              <a:lumMod val="50000"/>
                            </a:schemeClr>
                          </a:solidFill>
                        </a:rPr>
                        <a:t> Property and Mailing Address Match</a:t>
                      </a:r>
                      <a:r>
                        <a:rPr lang="en-US" sz="700" b="0" u="none">
                          <a:solidFill>
                            <a:schemeClr val="bg1">
                              <a:lumMod val="50000"/>
                            </a:schemeClr>
                          </a:solidFill>
                        </a:rPr>
                        <a:t> OR </a:t>
                      </a:r>
                      <a:r>
                        <a:rPr lang="en-US" sz="700" b="0" u="sng">
                          <a:solidFill>
                            <a:schemeClr val="bg1">
                              <a:lumMod val="50000"/>
                            </a:schemeClr>
                          </a:solidFill>
                        </a:rPr>
                        <a:t>No Mailing Address</a:t>
                      </a:r>
                      <a:endParaRPr lang="en-US" sz="700" b="0">
                        <a:solidFill>
                          <a:schemeClr val="bg1">
                            <a:lumMod val="50000"/>
                          </a:schemeClr>
                        </a:solidFill>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a:solidFill>
                            <a:schemeClr val="bg1">
                              <a:lumMod val="50000"/>
                            </a:schemeClr>
                          </a:solidFill>
                        </a:rPr>
                        <a:t>334,469</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6924309"/>
                  </a:ext>
                </a:extLst>
              </a:tr>
              <a:tr h="351158">
                <a:tc>
                  <a:txBody>
                    <a:bodyPr/>
                    <a:lstStyle/>
                    <a:p>
                      <a:pPr algn="ctr"/>
                      <a:r>
                        <a:rPr lang="en-US" sz="700">
                          <a:solidFill>
                            <a:schemeClr val="bg1">
                              <a:lumMod val="50000"/>
                            </a:schemeClr>
                          </a:solidFill>
                        </a:rPr>
                        <a:t>H</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u="sng">
                          <a:solidFill>
                            <a:schemeClr val="bg1">
                              <a:lumMod val="50000"/>
                            </a:schemeClr>
                          </a:solidFill>
                        </a:rPr>
                        <a:t>Property and Mailing Address Match OR No Mailing Address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a:solidFill>
                            <a:schemeClr val="bg1">
                              <a:lumMod val="50000"/>
                            </a:schemeClr>
                          </a:solidFill>
                        </a:rPr>
                        <a:t>297,862</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5310649"/>
                  </a:ext>
                </a:extLst>
              </a:tr>
              <a:tr h="351158">
                <a:tc>
                  <a:txBody>
                    <a:bodyPr/>
                    <a:lstStyle/>
                    <a:p>
                      <a:pPr algn="ctr"/>
                      <a:r>
                        <a:rPr lang="en-US" sz="700">
                          <a:solidFill>
                            <a:schemeClr val="bg1">
                              <a:lumMod val="50000"/>
                            </a:schemeClr>
                          </a:solidFill>
                        </a:rPr>
                        <a:t>I</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u="sng">
                          <a:solidFill>
                            <a:schemeClr val="bg1">
                              <a:lumMod val="50000"/>
                            </a:schemeClr>
                          </a:solidFill>
                        </a:rPr>
                        <a:t>Enrolled in a Property Tax Assistance Program</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a:solidFill>
                            <a:schemeClr val="bg1">
                              <a:lumMod val="50000"/>
                            </a:schemeClr>
                          </a:solidFill>
                        </a:rPr>
                        <a:t>250,963</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6777105"/>
                  </a:ext>
                </a:extLst>
              </a:tr>
            </a:tbl>
          </a:graphicData>
        </a:graphic>
      </p:graphicFrame>
      <p:sp>
        <p:nvSpPr>
          <p:cNvPr id="5" name="Rectangle 4">
            <a:extLst>
              <a:ext uri="{FF2B5EF4-FFF2-40B4-BE49-F238E27FC236}">
                <a16:creationId xmlns:a16="http://schemas.microsoft.com/office/drawing/2014/main" id="{31186F5B-F742-3E52-201F-A35F19E96844}"/>
              </a:ext>
            </a:extLst>
          </p:cNvPr>
          <p:cNvSpPr/>
          <p:nvPr/>
        </p:nvSpPr>
        <p:spPr>
          <a:xfrm>
            <a:off x="254001" y="2564977"/>
            <a:ext cx="6524171" cy="34078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9252820"/>
      </p:ext>
    </p:extLst>
  </p:cSld>
  <p:clrMapOvr>
    <a:masterClrMapping/>
  </p:clrMapOvr>
</p:sld>
</file>

<file path=ppt/theme/theme1.xml><?xml version="1.0" encoding="utf-8"?>
<a:theme xmlns:a="http://schemas.openxmlformats.org/drawingml/2006/main" name="simple-light-2">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97A2BC663266A44927EF2E13CAD62E2" ma:contentTypeVersion="14" ma:contentTypeDescription="Create a new document." ma:contentTypeScope="" ma:versionID="42bf54fbfbeacd27cf2d0f725bafa2ce">
  <xsd:schema xmlns:xsd="http://www.w3.org/2001/XMLSchema" xmlns:xs="http://www.w3.org/2001/XMLSchema" xmlns:p="http://schemas.microsoft.com/office/2006/metadata/properties" xmlns:ns2="c9da1544-13aa-4aba-a5b6-596a6e599f21" xmlns:ns3="92d565dc-2dff-44f9-88c8-5b59f340e256" targetNamespace="http://schemas.microsoft.com/office/2006/metadata/properties" ma:root="true" ma:fieldsID="5825246e7d216a777f1befa144b4b579" ns2:_="" ns3:_="">
    <xsd:import namespace="c9da1544-13aa-4aba-a5b6-596a6e599f21"/>
    <xsd:import namespace="92d565dc-2dff-44f9-88c8-5b59f340e25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da1544-13aa-4aba-a5b6-596a6e599f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f9eb18d0-8512-43c1-978b-efa5dabb071a"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2d565dc-2dff-44f9-88c8-5b59f340e256"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3390d611-1784-49a6-8117-ead406cf1b7a}" ma:internalName="TaxCatchAll" ma:showField="CatchAllData" ma:web="92d565dc-2dff-44f9-88c8-5b59f340e25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2d565dc-2dff-44f9-88c8-5b59f340e256" xsi:nil="true"/>
    <lcf76f155ced4ddcb4097134ff3c332f xmlns="c9da1544-13aa-4aba-a5b6-596a6e599f2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5B4FC8C-EB57-46CD-AD91-DDE6F32384B4}">
  <ds:schemaRefs>
    <ds:schemaRef ds:uri="92d565dc-2dff-44f9-88c8-5b59f340e256"/>
    <ds:schemaRef ds:uri="c9da1544-13aa-4aba-a5b6-596a6e599f2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CD235A5-022A-4FD9-BE4B-F9649994C5D1}">
  <ds:schemaRefs>
    <ds:schemaRef ds:uri="http://schemas.microsoft.com/sharepoint/v3/contenttype/forms"/>
  </ds:schemaRefs>
</ds:datastoreItem>
</file>

<file path=customXml/itemProps3.xml><?xml version="1.0" encoding="utf-8"?>
<ds:datastoreItem xmlns:ds="http://schemas.openxmlformats.org/officeDocument/2006/customXml" ds:itemID="{AC803279-1121-4188-9B74-39DB240EEC7E}">
  <ds:schemaRefs>
    <ds:schemaRef ds:uri="92d565dc-2dff-44f9-88c8-5b59f340e256"/>
    <ds:schemaRef ds:uri="c9da1544-13aa-4aba-a5b6-596a6e599f21"/>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0</TotalTime>
  <Words>753</Words>
  <Application>Microsoft Office PowerPoint</Application>
  <PresentationFormat>On-screen Show (16:9)</PresentationFormat>
  <Paragraphs>119</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Montserrat</vt:lpstr>
      <vt:lpstr>Open Sans</vt:lpstr>
      <vt:lpstr>simple-light-2</vt:lpstr>
      <vt:lpstr>Data Sources</vt:lpstr>
      <vt:lpstr>Estimating Owner-Occupied Properties</vt:lpstr>
      <vt:lpstr>Criteria to Identify Owner-Occupied Properties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Jack Denison</dc:creator>
  <cp:lastModifiedBy>Julia F. Flanagan</cp:lastModifiedBy>
  <cp:revision>2</cp:revision>
  <dcterms:modified xsi:type="dcterms:W3CDTF">2025-08-27T17:58:24Z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0x010100397A2BC663266A44927EF2E13CAD62E2</vt:lpwstr>
  </property>
  <property fmtid="{D5CDD505-2E9C-101B-9397-08002B2CF9AE}" pid="3" name="MediaServiceImageTags">
    <vt:lpwstr/>
  </property>
</Properties>
</file>